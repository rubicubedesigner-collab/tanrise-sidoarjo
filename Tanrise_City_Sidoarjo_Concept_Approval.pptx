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</p:sldIdLst>
  <p:sldSz cx="12929616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01.</a:t>
            </a:r>
          </a:p>
          <a:p>
            <a:r>
              <a:t>Original source wording (for traceability):</a:t>
            </a:r>
          </a:p>
          <a:p>
            <a:r>
              <a:t>SLIDE 01 — COVER</a:t>
            </a:r>
          </a:p>
          <a:p>
            <a:r>
              <a:t>TANRISE CITY SIDOARJO </a:t>
            </a:r>
          </a:p>
          <a:p>
            <a:r>
              <a:t>Creating a City for Active Living, Discovery, and Connection </a:t>
            </a:r>
          </a:p>
          <a:p>
            <a:r>
              <a:t>Market Understanding, Competitive Landscape &amp; Strategic Direction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02.</a:t>
            </a:r>
          </a:p>
          <a:p>
            <a:r>
              <a:t>Original source wording (for traceability):</a:t>
            </a:r>
          </a:p>
          <a:p>
            <a:r>
              <a:t>SLIDE 02 — THE BELIEF</a:t>
            </a:r>
          </a:p>
          <a:p>
            <a:r>
              <a:t>The true value of a city lies beyond its physical development, in </a:t>
            </a:r>
          </a:p>
          <a:p>
            <a:r>
              <a:t>its ability to enrich everyday life, inspire discovery, and foster </a:t>
            </a:r>
          </a:p>
          <a:p>
            <a:r>
              <a:t>meaningful connections.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03.</a:t>
            </a:r>
          </a:p>
          <a:p>
            <a:r>
              <a:t>Original source wording (for traceability):</a:t>
            </a:r>
          </a:p>
          <a:p>
            <a:r>
              <a:t>SLIDE 03 — THE STRATEGIC APPROACH</a:t>
            </a:r>
          </a:p>
          <a:p>
            <a:r>
              <a:t>A meaningful destination begins where place, people, and experiences come together. </a:t>
            </a:r>
          </a:p>
          <a:p>
            <a:r>
              <a:t>PLACE </a:t>
            </a:r>
          </a:p>
          <a:p>
            <a:r>
              <a:t>The character, potential, and opportunities of Sidoarjo to create a destination with a distinct </a:t>
            </a:r>
          </a:p>
          <a:p>
            <a:r>
              <a:t>sense of place. </a:t>
            </a:r>
          </a:p>
          <a:p>
            <a:r>
              <a:t> </a:t>
            </a:r>
          </a:p>
          <a:p>
            <a:r>
              <a:t>PEOPLE </a:t>
            </a:r>
          </a:p>
          <a:p>
            <a:r>
              <a:t>The lifestyles, aspirations, and everyday moments that bring people together and give a place </a:t>
            </a:r>
          </a:p>
          <a:p>
            <a:r>
              <a:t>meaning. </a:t>
            </a:r>
          </a:p>
          <a:p>
            <a:r>
              <a:t> </a:t>
            </a:r>
          </a:p>
          <a:p>
            <a:r>
              <a:t>EXPERIENCE </a:t>
            </a:r>
          </a:p>
          <a:p>
            <a:r>
              <a:t>Places to explore, activities to enjoy, and shared experiences that make every visit meaningful.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04.</a:t>
            </a:r>
          </a:p>
          <a:p>
            <a:r>
              <a:t>Original source wording (for traceability):</a:t>
            </a:r>
          </a:p>
          <a:p>
            <a:r>
              <a:t>SLIDE 04 — THE APPROACH</a:t>
            </a:r>
          </a:p>
          <a:p>
            <a:r>
              <a:t>From market understanding to a clear development direction. </a:t>
            </a:r>
          </a:p>
          <a:p>
            <a:r>
              <a:t>01 — Market &amp; Regional Overview</a:t>
            </a:r>
          </a:p>
          <a:p>
            <a:r>
              <a:t>Understand the economic setting and potential demand. </a:t>
            </a:r>
          </a:p>
          <a:p>
            <a:r>
              <a:t>02 — Site &amp; Surrounding Review</a:t>
            </a:r>
          </a:p>
          <a:p>
            <a:r>
              <a:t>Identify the location’s opportunities and constraints. </a:t>
            </a:r>
          </a:p>
          <a:p>
            <a:r>
              <a:t>03 — Competitor &amp; Corridor Benchmarking</a:t>
            </a:r>
          </a:p>
          <a:p>
            <a:r>
              <a:t>Examine how other developments establish relevance. </a:t>
            </a:r>
          </a:p>
          <a:p>
            <a:r>
              <a:t>04 — Market Gaps &amp; Opportunities</a:t>
            </a:r>
          </a:p>
          <a:p>
            <a:r>
              <a:t>Identify needs and opportunities to validate. </a:t>
            </a:r>
          </a:p>
          <a:p>
            <a:r>
              <a:t>05 — City Positioning &amp; Strategic Direction</a:t>
            </a:r>
          </a:p>
          <a:p>
            <a:r>
              <a:t>Translate the findings into a clear proposition.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05.</a:t>
            </a:r>
          </a:p>
          <a:p>
            <a:r>
              <a:t>Original source wording (for traceability):</a:t>
            </a:r>
          </a:p>
          <a:p>
            <a:r>
              <a:t>SLIDE 05</a:t>
            </a:r>
          </a:p>
          <a:p>
            <a:r>
              <a:t>01 — MARKET &amp; REGIONAL OVERVIEW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06.</a:t>
            </a:r>
          </a:p>
          <a:p>
            <a:r>
              <a:t>Original source wording (for traceability):</a:t>
            </a:r>
          </a:p>
          <a:p>
            <a:r>
              <a:t>SLIDE 06 — THE ECONOMIC FOUNDATION</a:t>
            </a:r>
          </a:p>
          <a:p>
            <a:r>
              <a:t>An Industrial Economy. A City of Growing Possibilities. </a:t>
            </a:r>
          </a:p>
          <a:p>
            <a:r>
              <a:t>Sidoarjo's economic strength is built around a substantial industrial and manufacturing base, </a:t>
            </a:r>
          </a:p>
          <a:p>
            <a:r>
              <a:t>creating an important foundation for employment, entrepreneurship, and regional economic </a:t>
            </a:r>
          </a:p>
          <a:p>
            <a:r>
              <a:t>activity. </a:t>
            </a:r>
          </a:p>
          <a:p>
            <a:r>
              <a:t>5.63%</a:t>
            </a:r>
          </a:p>
          <a:p/>
          <a:p>
            <a:r>
              <a:t>49.45%</a:t>
            </a:r>
          </a:p>
          <a:p/>
          <a:p/>
          <a:p>
            <a:r>
              <a:t>Rp319.25T </a:t>
            </a:r>
          </a:p>
          <a:p>
            <a:r>
              <a:t>Economic Growth</a:t>
            </a:r>
          </a:p>
          <a:p/>
          <a:p>
            <a:r>
              <a:t>Manufacturing Contribution</a:t>
            </a:r>
          </a:p>
          <a:p/>
          <a:p>
            <a:r>
              <a:t>Regional Economy </a:t>
            </a:r>
          </a:p>
          <a:p>
            <a:r>
              <a:t>2025 · Sidoarjo</a:t>
            </a:r>
          </a:p>
          <a:p/>
          <a:p>
            <a:r>
              <a:t>Share of 2025 regional GDP </a:t>
            </a:r>
          </a:p>
          <a:p>
            <a:r>
              <a:t>2025 GDP, current prices </a:t>
            </a:r>
          </a:p>
          <a:p>
            <a:r>
              <a:t>Source: BPS Kabupaten Sidoarjo, Economic Growth 2025. </a:t>
            </a:r>
          </a:p>
          <a:p>
            <a:r>
              <a:t>An economy driven by industry creates an opportunity to serve the lives built around it. </a:t>
            </a:r>
          </a:p>
          <a:p/>
          <a:p>
            <a:r>
              <a:t>Sidoarjo's economy provides the foundation. The opportunity lies in creating a city that </a:t>
            </a:r>
          </a:p>
          <a:p>
            <a:r>
              <a:t>enriches the lives of the people behind it.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07.</a:t>
            </a:r>
          </a:p>
          <a:p>
            <a:r>
              <a:t>Original source wording (for traceability):</a:t>
            </a:r>
          </a:p>
          <a:p>
            <a:r>
              <a:t>SLIDE 07 — THE REGIONAL OPPORTUNITY</a:t>
            </a:r>
          </a:p>
          <a:p>
            <a:r>
              <a:t>Connected to a Greater Economy. Positioned for a More Complete Way of Life. </a:t>
            </a:r>
          </a:p>
          <a:p>
            <a:r>
              <a:t>Sidoarjo is part of the Greater Surabaya metropolitan ecosystem, connecting industrial activity, </a:t>
            </a:r>
          </a:p>
          <a:p>
            <a:r>
              <a:t>employment, commerce, and regional mobility. </a:t>
            </a:r>
          </a:p>
          <a:p>
            <a:r>
              <a:t>Strategic Strength </a:t>
            </a:r>
          </a:p>
          <a:p>
            <a:r>
              <a:t>Key Opportunity </a:t>
            </a:r>
          </a:p>
          <a:p>
            <a:r>
              <a:t>01 — Metropolitan Connectivity </a:t>
            </a:r>
          </a:p>
          <a:p>
            <a:r>
              <a:t>Access to Surabaya's employment, business, </a:t>
            </a:r>
          </a:p>
          <a:p>
            <a:r>
              <a:t>and commercial ecosystem. </a:t>
            </a:r>
          </a:p>
          <a:p>
            <a:r>
              <a:t>02 — Industrial &amp; Economic Growth </a:t>
            </a:r>
          </a:p>
          <a:p>
            <a:r>
              <a:t>An established industrial base supporting </a:t>
            </a:r>
          </a:p>
          <a:p>
            <a:r>
              <a:t>professionals, entrepreneurs, and </a:t>
            </a:r>
          </a:p>
          <a:p>
            <a:r>
              <a:t>households. </a:t>
            </a:r>
          </a:p>
          <a:p>
            <a:r>
              <a:t>03 — Regional Accessibility </a:t>
            </a:r>
          </a:p>
          <a:p>
            <a:r>
              <a:t>Connections to transport infrastructure, </a:t>
            </a:r>
          </a:p>
          <a:p>
            <a:r>
              <a:t>services, and lifestyle destinations.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08.</a:t>
            </a:r>
          </a:p>
          <a:p>
            <a:r>
              <a:t>Original source wording (for traceability):</a:t>
            </a:r>
          </a:p>
          <a:p>
            <a:r>
              <a:t>SLIDE 08 — CONNECTED TO THE INDUSTRY</a:t>
            </a:r>
          </a:p>
          <a:p>
            <a:r>
              <a:t>An Established Aviation Gateway Strengthens Sidoarjo's Potential as a Place to Live, Work, and </a:t>
            </a:r>
          </a:p>
          <a:p>
            <a:r>
              <a:t>Connect. </a:t>
            </a:r>
          </a:p>
          <a:p>
            <a:r>
              <a:t>13.5M</a:t>
            </a:r>
          </a:p>
          <a:p/>
          <a:p>
            <a:r>
              <a:t>92K</a:t>
            </a:r>
          </a:p>
          <a:p/>
          <a:p/>
          <a:p/>
          <a:p>
            <a:r>
              <a:t>43 </a:t>
            </a:r>
          </a:p>
          <a:p>
            <a:r>
              <a:t>Annual Passengers</a:t>
            </a:r>
          </a:p>
          <a:p/>
          <a:p>
            <a:r>
              <a:t>Aircraft Movements</a:t>
            </a:r>
          </a:p>
          <a:p/>
          <a:p/>
          <a:p>
            <a:r>
              <a:t>Air Routes </a:t>
            </a:r>
          </a:p>
          <a:p>
            <a:r>
              <a:t>2025 </a:t>
            </a:r>
          </a:p>
          <a:p/>
          <a:p/>
          <a:p>
            <a:r>
              <a:t>2025 </a:t>
            </a:r>
          </a:p>
          <a:p/>
          <a:p/>
          <a:p/>
          <a:p>
            <a:r>
              <a:t>32 domestic, 11 international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09.</a:t>
            </a:r>
          </a:p>
          <a:p>
            <a:r>
              <a:t>Original source wording (for traceability):</a:t>
            </a:r>
          </a:p>
          <a:p>
            <a:r>
              <a:t>SLIDE 09 — UNDERSTANDING THE PEOPLE</a:t>
            </a:r>
          </a:p>
          <a:p>
            <a:r>
              <a:t>Beyond Population. Understanding the Lives Behind the Numbers. </a:t>
            </a:r>
          </a:p>
          <a:p>
            <a:r>
              <a:t>Sidoarjo's substantial population and employment-driven economy provide a potential market </a:t>
            </a:r>
          </a:p>
          <a:p>
            <a:r>
              <a:t>for different household needs, from first-time homeowners to established families seeking a </a:t>
            </a:r>
          </a:p>
          <a:p>
            <a:r>
              <a:t>more complete lifestyle </a:t>
            </a:r>
          </a:p>
          <a:p/>
          <a:p>
            <a:r>
              <a:t>2.04M</a:t>
            </a:r>
          </a:p>
          <a:p/>
          <a:p>
            <a:r>
              <a:t>~68% </a:t>
            </a:r>
          </a:p>
          <a:p/>
          <a:p/>
          <a:p>
            <a:r>
              <a:t>49.45% </a:t>
            </a:r>
          </a:p>
          <a:p>
            <a:r>
              <a:t>Residents</a:t>
            </a:r>
          </a:p>
          <a:p/>
          <a:p/>
          <a:p>
            <a:r>
              <a:t>Working-age population</a:t>
            </a:r>
          </a:p>
          <a:p/>
          <a:p>
            <a:r>
              <a:t>Manufacturing contribution </a:t>
            </a:r>
          </a:p>
          <a:p>
            <a:r>
              <a:t>2025 registration data.</a:t>
            </a:r>
          </a:p>
          <a:p>
            <a:r>
              <a:t>Ages 15–59, Dec 2025</a:t>
            </a:r>
          </a:p>
          <a:p/>
          <a:p>
            <a:r>
              <a:t>2025 regional GDP </a:t>
            </a:r>
          </a:p>
          <a:p>
            <a:r>
              <a:t> </a:t>
            </a:r>
          </a:p>
          <a:p>
            <a:r>
              <a:t> </a:t>
            </a:r>
          </a:p>
          <a:p>
            <a:r>
              <a:t> </a:t>
            </a:r>
          </a:p>
          <a:p>
            <a:r>
              <a:t>Four Potential Audience Segments: </a:t>
            </a:r>
          </a:p>
          <a:p>
            <a:r>
              <a:t> </a:t>
            </a:r>
          </a:p>
          <a:p>
            <a:r>
              <a:t>01 — Family &amp; Living </a:t>
            </a:r>
          </a:p>
          <a:p>
            <a:r>
              <a:t>02 — Work &amp; Opportunity </a:t>
            </a:r>
          </a:p>
          <a:p>
            <a:r>
              <a:t>Homes and environments that support </a:t>
            </a:r>
          </a:p>
          <a:p>
            <a:r>
              <a:t>different generations and stages of life. </a:t>
            </a:r>
          </a:p>
          <a:p>
            <a:r>
              <a:t>Convenience and connectivity that </a:t>
            </a:r>
          </a:p>
          <a:p>
            <a:r>
              <a:t>complement professional and business </a:t>
            </a:r>
          </a:p>
          <a:p>
            <a:r>
              <a:t>routines. </a:t>
            </a:r>
          </a:p>
          <a:p>
            <a:r>
              <a:t>03 — Lifestyle &amp; Discovery </a:t>
            </a:r>
          </a:p>
          <a:p>
            <a:r>
              <a:t>04 — Connection &amp; Belonging </a:t>
            </a:r>
          </a:p>
          <a:p>
            <a:r>
              <a:t>More choices for recreation, dining, </a:t>
            </a:r>
          </a:p>
          <a:p>
            <a:r>
              <a:t>exploration, and everyday enjoyment. </a:t>
            </a:r>
          </a:p>
          <a:p>
            <a:r>
              <a:t>Shared spaces and experiences that </a:t>
            </a:r>
          </a:p>
          <a:p>
            <a:r>
              <a:t>encourage meaningful social interaction.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09.</a:t>
            </a:r>
          </a:p>
          <a:p>
            <a:r>
              <a:t>Original source wording (for traceability):</a:t>
            </a:r>
          </a:p>
          <a:p>
            <a:r>
              <a:t>SLIDE 09 — UNDERSTANDING THE PEOPLE</a:t>
            </a:r>
          </a:p>
          <a:p>
            <a:r>
              <a:t>Beyond Population. Understanding the Lives Behind the Numbers. </a:t>
            </a:r>
          </a:p>
          <a:p>
            <a:r>
              <a:t>Sidoarjo's substantial population and employment-driven economy provide a potential market </a:t>
            </a:r>
          </a:p>
          <a:p>
            <a:r>
              <a:t>for different household needs, from first-time homeowners to established families seeking a </a:t>
            </a:r>
          </a:p>
          <a:p>
            <a:r>
              <a:t>more complete lifestyle </a:t>
            </a:r>
          </a:p>
          <a:p/>
          <a:p>
            <a:r>
              <a:t>2.04M</a:t>
            </a:r>
          </a:p>
          <a:p/>
          <a:p>
            <a:r>
              <a:t>~68% </a:t>
            </a:r>
          </a:p>
          <a:p/>
          <a:p/>
          <a:p>
            <a:r>
              <a:t>49.45% </a:t>
            </a:r>
          </a:p>
          <a:p>
            <a:r>
              <a:t>Residents</a:t>
            </a:r>
          </a:p>
          <a:p/>
          <a:p/>
          <a:p>
            <a:r>
              <a:t>Working-age population</a:t>
            </a:r>
          </a:p>
          <a:p/>
          <a:p>
            <a:r>
              <a:t>Manufacturing contribution </a:t>
            </a:r>
          </a:p>
          <a:p>
            <a:r>
              <a:t>2025 registration data.</a:t>
            </a:r>
          </a:p>
          <a:p>
            <a:r>
              <a:t>Ages 15–59, Dec 2025</a:t>
            </a:r>
          </a:p>
          <a:p/>
          <a:p>
            <a:r>
              <a:t>2025 regional GDP </a:t>
            </a:r>
          </a:p>
          <a:p>
            <a:r>
              <a:t> </a:t>
            </a:r>
          </a:p>
          <a:p>
            <a:r>
              <a:t> </a:t>
            </a:r>
          </a:p>
          <a:p>
            <a:r>
              <a:t> </a:t>
            </a:r>
          </a:p>
          <a:p>
            <a:r>
              <a:t>Four Potential Audience Segments: </a:t>
            </a:r>
          </a:p>
          <a:p>
            <a:r>
              <a:t> </a:t>
            </a:r>
          </a:p>
          <a:p>
            <a:r>
              <a:t>01 — Family &amp; Living </a:t>
            </a:r>
          </a:p>
          <a:p>
            <a:r>
              <a:t>02 — Work &amp; Opportunity </a:t>
            </a:r>
          </a:p>
          <a:p>
            <a:r>
              <a:t>Homes and environments that support </a:t>
            </a:r>
          </a:p>
          <a:p>
            <a:r>
              <a:t>different generations and stages of life. </a:t>
            </a:r>
          </a:p>
          <a:p>
            <a:r>
              <a:t>Convenience and connectivity that </a:t>
            </a:r>
          </a:p>
          <a:p>
            <a:r>
              <a:t>complement professional and business </a:t>
            </a:r>
          </a:p>
          <a:p>
            <a:r>
              <a:t>routines. </a:t>
            </a:r>
          </a:p>
          <a:p>
            <a:r>
              <a:t>03 — Lifestyle &amp; Discovery </a:t>
            </a:r>
          </a:p>
          <a:p>
            <a:r>
              <a:t>04 — Connection &amp; Belonging </a:t>
            </a:r>
          </a:p>
          <a:p>
            <a:r>
              <a:t>More choices for recreation, dining, </a:t>
            </a:r>
          </a:p>
          <a:p>
            <a:r>
              <a:t>exploration, and everyday enjoyment. </a:t>
            </a:r>
          </a:p>
          <a:p>
            <a:r>
              <a:t>Shared spaces and experiences that </a:t>
            </a:r>
          </a:p>
          <a:p>
            <a:r>
              <a:t>encourage meaningful social interaction.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10.</a:t>
            </a:r>
          </a:p>
          <a:p>
            <a:r>
              <a:t>Original source wording (for traceability):</a:t>
            </a:r>
          </a:p>
          <a:p>
            <a:r>
              <a:t>SLIDE 10 — THE EXISTING TOWNSHIP LANDSCAPE</a:t>
            </a:r>
          </a:p>
          <a:p>
            <a:r>
              <a:t>A Growing Residential Market. An Opportunity to Redefine Everyday Living. </a:t>
            </a:r>
          </a:p>
          <a:p>
            <a:r>
              <a:t> </a:t>
            </a:r>
          </a:p>
          <a:p>
            <a:r>
              <a:t> </a:t>
            </a:r>
          </a:p>
          <a:p>
            <a:r>
              <a:t>Market Dimension </a:t>
            </a:r>
          </a:p>
          <a:p>
            <a:r>
              <a:t>Existing Condition </a:t>
            </a:r>
          </a:p>
          <a:p>
            <a:r>
              <a:t>Opportunity for Tanrise City Sidoarjo </a:t>
            </a:r>
          </a:p>
          <a:p>
            <a:r>
              <a:t>Housing </a:t>
            </a:r>
          </a:p>
          <a:p>
            <a:r>
              <a:t>Established cluster-based </a:t>
            </a:r>
          </a:p>
          <a:p>
            <a:r>
              <a:t>residential developments </a:t>
            </a:r>
          </a:p>
          <a:p>
            <a:r>
              <a:t>More diverse residential choices across </a:t>
            </a:r>
          </a:p>
          <a:p>
            <a:r>
              <a:t>household life stages </a:t>
            </a:r>
          </a:p>
          <a:p>
            <a:r>
              <a:t>Lifestyle </a:t>
            </a:r>
          </a:p>
          <a:p>
            <a:r>
              <a:t>Amenities concentrated in </a:t>
            </a:r>
          </a:p>
          <a:p>
            <a:r>
              <a:t>existing townships and </a:t>
            </a:r>
          </a:p>
          <a:p>
            <a:r>
              <a:t>commercial areas </a:t>
            </a:r>
          </a:p>
          <a:p>
            <a:r>
              <a:t>A connected collection of lifestyle and </a:t>
            </a:r>
          </a:p>
          <a:p>
            <a:r>
              <a:t>leisure destinations </a:t>
            </a:r>
          </a:p>
          <a:p>
            <a:r>
              <a:t>Community </a:t>
            </a:r>
          </a:p>
          <a:p>
            <a:r>
              <a:t>Residential </a:t>
            </a:r>
          </a:p>
          <a:p>
            <a:r>
              <a:t>neighborhoods with </a:t>
            </a:r>
          </a:p>
          <a:p>
            <a:r>
              <a:t>private shared facilities </a:t>
            </a:r>
          </a:p>
          <a:p>
            <a:r>
              <a:t>Inclusive gathering spaces and recurring </a:t>
            </a:r>
          </a:p>
          <a:p>
            <a:r>
              <a:t>community activities </a:t>
            </a:r>
          </a:p>
          <a:p>
            <a:r>
              <a:t>Green </a:t>
            </a:r>
          </a:p>
          <a:p>
            <a:r>
              <a:t>Environment </a:t>
            </a:r>
          </a:p>
          <a:p>
            <a:r>
              <a:t>Greenery is already a </a:t>
            </a:r>
          </a:p>
          <a:p>
            <a:r>
              <a:t>common township </a:t>
            </a:r>
          </a:p>
          <a:p>
            <a:r>
              <a:t>proposition </a:t>
            </a:r>
          </a:p>
          <a:p>
            <a:r>
              <a:t>Make connected landscapes and active </a:t>
            </a:r>
          </a:p>
          <a:p>
            <a:r>
              <a:t>outdoor experiences central to daily life </a:t>
            </a:r>
          </a:p>
          <a:p>
            <a:r>
              <a:t>Commercial </a:t>
            </a:r>
          </a:p>
          <a:p>
            <a:r>
              <a:t>Retail and </a:t>
            </a:r>
          </a:p>
          <a:p>
            <a:r>
              <a:t>food-and-beverage </a:t>
            </a:r>
          </a:p>
          <a:p>
            <a:r>
              <a:t>A complementary commercial ecosystem </a:t>
            </a:r>
          </a:p>
          <a:p>
            <a:r>
              <a:t>designed around everyday use </a:t>
            </a:r>
          </a:p>
          <a:p/>
          <a:p>
            <a:r>
              <a:t>activity distributed across </a:t>
            </a:r>
          </a:p>
          <a:p>
            <a:r>
              <a:t>urban corridors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10.</a:t>
            </a:r>
          </a:p>
          <a:p>
            <a:r>
              <a:t>Original source wording (for traceability):</a:t>
            </a:r>
          </a:p>
          <a:p>
            <a:r>
              <a:t>SLIDE 10 — THE EXISTING TOWNSHIP LANDSCAPE</a:t>
            </a:r>
          </a:p>
          <a:p>
            <a:r>
              <a:t>A Growing Residential Market. An Opportunity to Redefine Everyday Living. </a:t>
            </a:r>
          </a:p>
          <a:p>
            <a:r>
              <a:t> </a:t>
            </a:r>
          </a:p>
          <a:p>
            <a:r>
              <a:t> </a:t>
            </a:r>
          </a:p>
          <a:p>
            <a:r>
              <a:t>Market Dimension </a:t>
            </a:r>
          </a:p>
          <a:p>
            <a:r>
              <a:t>Existing Condition </a:t>
            </a:r>
          </a:p>
          <a:p>
            <a:r>
              <a:t>Opportunity for Tanrise City Sidoarjo </a:t>
            </a:r>
          </a:p>
          <a:p>
            <a:r>
              <a:t>Housing </a:t>
            </a:r>
          </a:p>
          <a:p>
            <a:r>
              <a:t>Established cluster-based </a:t>
            </a:r>
          </a:p>
          <a:p>
            <a:r>
              <a:t>residential developments </a:t>
            </a:r>
          </a:p>
          <a:p>
            <a:r>
              <a:t>More diverse residential choices across </a:t>
            </a:r>
          </a:p>
          <a:p>
            <a:r>
              <a:t>household life stages </a:t>
            </a:r>
          </a:p>
          <a:p>
            <a:r>
              <a:t>Lifestyle </a:t>
            </a:r>
          </a:p>
          <a:p>
            <a:r>
              <a:t>Amenities concentrated in </a:t>
            </a:r>
          </a:p>
          <a:p>
            <a:r>
              <a:t>existing townships and </a:t>
            </a:r>
          </a:p>
          <a:p>
            <a:r>
              <a:t>commercial areas </a:t>
            </a:r>
          </a:p>
          <a:p>
            <a:r>
              <a:t>A connected collection of lifestyle and </a:t>
            </a:r>
          </a:p>
          <a:p>
            <a:r>
              <a:t>leisure destinations </a:t>
            </a:r>
          </a:p>
          <a:p>
            <a:r>
              <a:t>Community </a:t>
            </a:r>
          </a:p>
          <a:p>
            <a:r>
              <a:t>Residential </a:t>
            </a:r>
          </a:p>
          <a:p>
            <a:r>
              <a:t>neighborhoods with </a:t>
            </a:r>
          </a:p>
          <a:p>
            <a:r>
              <a:t>private shared facilities </a:t>
            </a:r>
          </a:p>
          <a:p>
            <a:r>
              <a:t>Inclusive gathering spaces and recurring </a:t>
            </a:r>
          </a:p>
          <a:p>
            <a:r>
              <a:t>community activities </a:t>
            </a:r>
          </a:p>
          <a:p>
            <a:r>
              <a:t>Green </a:t>
            </a:r>
          </a:p>
          <a:p>
            <a:r>
              <a:t>Environment </a:t>
            </a:r>
          </a:p>
          <a:p>
            <a:r>
              <a:t>Greenery is already a </a:t>
            </a:r>
          </a:p>
          <a:p>
            <a:r>
              <a:t>common township </a:t>
            </a:r>
          </a:p>
          <a:p>
            <a:r>
              <a:t>proposition </a:t>
            </a:r>
          </a:p>
          <a:p>
            <a:r>
              <a:t>Make connected landscapes and active </a:t>
            </a:r>
          </a:p>
          <a:p>
            <a:r>
              <a:t>outdoor experiences central to daily life </a:t>
            </a:r>
          </a:p>
          <a:p>
            <a:r>
              <a:t>Commercial </a:t>
            </a:r>
          </a:p>
          <a:p>
            <a:r>
              <a:t>Retail and </a:t>
            </a:r>
          </a:p>
          <a:p>
            <a:r>
              <a:t>food-and-beverage </a:t>
            </a:r>
          </a:p>
          <a:p>
            <a:r>
              <a:t>A complementary commercial ecosystem </a:t>
            </a:r>
          </a:p>
          <a:p>
            <a:r>
              <a:t>designed around everyday use </a:t>
            </a:r>
          </a:p>
          <a:p/>
          <a:p>
            <a:r>
              <a:t>activity distributed across </a:t>
            </a:r>
          </a:p>
          <a:p>
            <a:r>
              <a:t>urban corridors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11.</a:t>
            </a:r>
          </a:p>
          <a:p>
            <a:r>
              <a:t>Original source wording (for traceability):</a:t>
            </a:r>
          </a:p>
          <a:p>
            <a:r>
              <a:t>SLIDE 11 —</a:t>
            </a:r>
          </a:p>
          <a:p>
            <a:r>
              <a:t>Different lives.  </a:t>
            </a:r>
          </a:p>
          <a:p>
            <a:r>
              <a:t>Different aspirations.  </a:t>
            </a:r>
          </a:p>
          <a:p>
            <a:r>
              <a:t>One shared desire for a place where life has more to offer.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12.</a:t>
            </a:r>
          </a:p>
          <a:p>
            <a:r>
              <a:t>Original source wording (for traceability):</a:t>
            </a:r>
          </a:p>
          <a:p>
            <a:r>
              <a:t>SLIDE 12 —</a:t>
            </a:r>
          </a:p>
          <a:p>
            <a:r>
              <a:t>02 — SITE &amp; SURROUNDING REVIEW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13.</a:t>
            </a:r>
          </a:p>
          <a:p>
            <a:r>
              <a:t>Original source wording (for traceability):</a:t>
            </a:r>
          </a:p>
          <a:p>
            <a:r>
              <a:t>SLIDE 13 — SITE CONTEXT</a:t>
            </a:r>
          </a:p>
          <a:p>
            <a:r>
              <a:t>TANRISE CITY SIDOARJO  </a:t>
            </a:r>
          </a:p>
          <a:p/>
          <a:p>
            <a:r>
              <a:t>|</a:t>
            </a:r>
          </a:p>
          <a:p/>
          <a:p/>
          <a:p>
            <a:r>
              <a:t>SUNRISE RESIDENCE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14.</a:t>
            </a:r>
          </a:p>
          <a:p>
            <a:r>
              <a:t>Original source wording (for traceability):</a:t>
            </a:r>
          </a:p>
          <a:p>
            <a:r>
              <a:t>SLIDE 14 — ACCESSIBILITY</a:t>
            </a:r>
          </a:p>
          <a:p>
            <a:r>
              <a:t>Sunrise Residence Sidoarjo occupies a strategic planning position within an established working </a:t>
            </a:r>
          </a:p>
          <a:p>
            <a:r>
              <a:t>urban environment, where industrial facilities, existing neighborhoods, and undeveloped land </a:t>
            </a:r>
          </a:p>
          <a:p>
            <a:r>
              <a:t>coexist. </a:t>
            </a:r>
          </a:p>
          <a:p>
            <a:r>
              <a:t>Direction </a:t>
            </a:r>
          </a:p>
          <a:p>
            <a:r>
              <a:t>Existing surroundings </a:t>
            </a:r>
          </a:p>
          <a:p>
            <a:r>
              <a:t>Planning implication </a:t>
            </a:r>
          </a:p>
          <a:p>
            <a:r>
              <a:t>West </a:t>
            </a:r>
          </a:p>
          <a:p>
            <a:r>
              <a:t>Jalan Lingkar Timur and established </a:t>
            </a:r>
          </a:p>
          <a:p>
            <a:r>
              <a:t>neighborhood buildings </a:t>
            </a:r>
          </a:p>
          <a:p>
            <a:r>
              <a:t>Main road frontage and potential </a:t>
            </a:r>
          </a:p>
          <a:p>
            <a:r>
              <a:t>access visibility </a:t>
            </a:r>
          </a:p>
          <a:p>
            <a:r>
              <a:t>West </a:t>
            </a:r>
          </a:p>
          <a:p>
            <a:r>
              <a:t>Industrial buildings and </a:t>
            </a:r>
          </a:p>
          <a:p>
            <a:r>
              <a:t>warehousing </a:t>
            </a:r>
          </a:p>
          <a:p>
            <a:r>
              <a:t>Need to consider noise, servicing, </a:t>
            </a:r>
          </a:p>
          <a:p>
            <a:r>
              <a:t>and land-use buffers </a:t>
            </a:r>
          </a:p>
          <a:p>
            <a:r>
              <a:t>East </a:t>
            </a:r>
          </a:p>
          <a:p>
            <a:r>
              <a:t>Agricultural land and open areas </a:t>
            </a:r>
          </a:p>
          <a:p>
            <a:r>
              <a:t>Opportunity for open landscape </a:t>
            </a:r>
          </a:p>
          <a:p>
            <a:r>
              <a:t>views, subject to future development </a:t>
            </a:r>
          </a:p>
          <a:p/>
          <a:p>
            <a:r>
              <a:t>South </a:t>
            </a:r>
          </a:p>
          <a:p>
            <a:r>
              <a:t>Mixed vacant land, buildings, and </a:t>
            </a:r>
          </a:p>
          <a:p>
            <a:r>
              <a:t>vegetation </a:t>
            </a:r>
          </a:p>
          <a:p>
            <a:r>
              <a:t>Boundary treatment and future </a:t>
            </a:r>
          </a:p>
          <a:p>
            <a:r>
              <a:t>adjacent development need review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15.</a:t>
            </a:r>
          </a:p>
          <a:p>
            <a:r>
              <a:t>Original source wording (for traceability):</a:t>
            </a:r>
          </a:p>
          <a:p>
            <a:r>
              <a:t>SLIDE 15 — THE SURROUNDING ECOSYSTEM</a:t>
            </a:r>
          </a:p>
          <a:p>
            <a:r>
              <a:t>The industrial ecosystem is one of the clearest verified characteristics of this location. </a:t>
            </a:r>
          </a:p>
          <a:p>
            <a:r>
              <a:t>Three relevant developments along the Lingkar Timur corridor are: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16.</a:t>
            </a:r>
          </a:p>
          <a:p>
            <a:r>
              <a:t>Original source wording (for traceability):</a:t>
            </a:r>
          </a:p>
          <a:p>
            <a:r>
              <a:t>SLIDE 16 — SITE READINESS</a:t>
            </a:r>
          </a:p>
          <a:p>
            <a:r>
              <a:t>Assessment </a:t>
            </a:r>
          </a:p>
          <a:p>
            <a:r>
              <a:t>Finding </a:t>
            </a:r>
          </a:p>
          <a:p>
            <a:r>
              <a:t>Implication for Tanrise City </a:t>
            </a:r>
          </a:p>
          <a:p>
            <a:r>
              <a:t>Industrial Activity </a:t>
            </a:r>
          </a:p>
          <a:p>
            <a:r>
              <a:t>Strong existing industrial and </a:t>
            </a:r>
          </a:p>
          <a:p>
            <a:r>
              <a:t>logistics presence </a:t>
            </a:r>
          </a:p>
          <a:p>
            <a:r>
              <a:t>Potential employment-linked </a:t>
            </a:r>
          </a:p>
          <a:p>
            <a:r>
              <a:t>market, but greater attention </a:t>
            </a:r>
          </a:p>
          <a:p>
            <a:r>
              <a:t>to residential comfort </a:t>
            </a:r>
          </a:p>
          <a:p>
            <a:r>
              <a:t>Existing Housing </a:t>
            </a:r>
          </a:p>
          <a:p>
            <a:r>
              <a:t>Established neighborhoods </a:t>
            </a:r>
          </a:p>
          <a:p>
            <a:r>
              <a:t>west of the road </a:t>
            </a:r>
          </a:p>
          <a:p>
            <a:r>
              <a:t>Opportunity to complement </a:t>
            </a:r>
          </a:p>
          <a:p>
            <a:r>
              <a:t>the existing residential </a:t>
            </a:r>
          </a:p>
          <a:p>
            <a:r>
              <a:t>environment </a:t>
            </a:r>
          </a:p>
          <a:p/>
          <a:p>
            <a:r>
              <a:t>Land Character </a:t>
            </a:r>
          </a:p>
          <a:p>
            <a:r>
              <a:t>Open agricultural parcels </a:t>
            </a:r>
          </a:p>
          <a:p>
            <a:r>
              <a:t>remain near the site </a:t>
            </a:r>
          </a:p>
          <a:p>
            <a:r>
              <a:t>Opportunity for landscape-led </a:t>
            </a:r>
          </a:p>
          <a:p>
            <a:r>
              <a:t>planning; surrounding </a:t>
            </a:r>
          </a:p>
          <a:p>
            <a:r>
              <a:t>land-use changes remain </a:t>
            </a:r>
          </a:p>
          <a:p>
            <a:r>
              <a:t>uncertain </a:t>
            </a:r>
          </a:p>
          <a:p>
            <a:r>
              <a:t>Daily Services </a:t>
            </a:r>
          </a:p>
          <a:p>
            <a:r>
              <a:t>Schools and basic retail exist </a:t>
            </a:r>
          </a:p>
          <a:p>
            <a:r>
              <a:t>along the corridor </a:t>
            </a:r>
          </a:p>
          <a:p>
            <a:r>
              <a:t>Integrated daily conveniences </a:t>
            </a:r>
          </a:p>
          <a:p>
            <a:r>
              <a:t>could support residents </a:t>
            </a:r>
          </a:p>
          <a:p>
            <a:r>
              <a:t>Lifestyle Destinations </a:t>
            </a:r>
          </a:p>
          <a:p>
            <a:r>
              <a:t>Major shopping and </a:t>
            </a:r>
          </a:p>
          <a:p>
            <a:r>
              <a:t>recreation destinations exist </a:t>
            </a:r>
          </a:p>
          <a:p>
            <a:r>
              <a:t>across Sidoarjo </a:t>
            </a:r>
          </a:p>
          <a:p>
            <a:r>
              <a:t>Potential to differentiate </a:t>
            </a:r>
          </a:p>
          <a:p>
            <a:r>
              <a:t>through more distinctive and </a:t>
            </a:r>
          </a:p>
          <a:p>
            <a:r>
              <a:t>accessible activities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17.</a:t>
            </a:r>
          </a:p>
          <a:p>
            <a:r>
              <a:t>Original source wording (for traceability):</a:t>
            </a:r>
          </a:p>
          <a:p>
            <a:r>
              <a:t>SLIDE 17 — DESIGN REFERENCES</a:t>
            </a:r>
          </a:p>
          <a:p>
            <a:r>
              <a:t>Comfort, practicality, and a welcoming character. </a:t>
            </a:r>
          </a:p>
          <a:p>
            <a:r>
              <a:t>The supplied architecture and clubhouse materials provide useful reference principles: </a:t>
            </a:r>
          </a:p>
          <a:p>
            <a:r>
              <a:t>● Contemporary forms with clear, simple detailing. </a:t>
            </a:r>
          </a:p>
          <a:p>
            <a:r>
              <a:t>● Natural lighting and ventilation. </a:t>
            </a:r>
          </a:p>
          <a:p>
            <a:r>
              <a:t>● Practical layouts that balance comfort and privacy. </a:t>
            </a:r>
          </a:p>
          <a:p>
            <a:r>
              <a:t>● Warm tropical materials and architectural accents. </a:t>
            </a:r>
          </a:p>
          <a:p>
            <a:r>
              <a:t>● Shared spaces with an approachable, hospitality-inspired atmosphere.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18.</a:t>
            </a:r>
          </a:p>
          <a:p>
            <a:r>
              <a:t>Original source wording (for traceability):</a:t>
            </a:r>
          </a:p>
          <a:p>
            <a:r>
              <a:t>SLIDE 18 —</a:t>
            </a:r>
          </a:p>
          <a:p>
            <a:r>
              <a:t>03 — COMPETITOR &amp; CORRIDOR BENCHMARKING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19.</a:t>
            </a:r>
          </a:p>
          <a:p>
            <a:r>
              <a:t>Original source wording (for traceability):</a:t>
            </a:r>
          </a:p>
          <a:p>
            <a:r>
              <a:t>SLIDE 19 — BENCHMARKING FRAMEWORK</a:t>
            </a:r>
          </a:p>
          <a:p>
            <a:r>
              <a:t>Five Developers. Five Different Approaches to Township Development </a:t>
            </a:r>
          </a:p>
          <a:p>
            <a:r>
              <a:t>Greater Surabaya's property market is shaped by established developers competing through </a:t>
            </a:r>
          </a:p>
          <a:p>
            <a:r>
              <a:t>master-planned communities, residential accessibility, commercial destinations, and lifestyle </a:t>
            </a:r>
          </a:p>
          <a:p>
            <a:r>
              <a:t>integration. </a:t>
            </a:r>
          </a:p>
          <a:p>
            <a:r>
              <a:t>Developer </a:t>
            </a:r>
          </a:p>
          <a:p>
            <a:r>
              <a:t>Flagship developments </a:t>
            </a:r>
          </a:p>
          <a:p>
            <a:r>
              <a:t>Primary corridors </a:t>
            </a:r>
          </a:p>
          <a:p>
            <a:r>
              <a:t>Core strength </a:t>
            </a:r>
          </a:p>
          <a:p>
            <a:r>
              <a:t>Ciputra </a:t>
            </a:r>
          </a:p>
          <a:p>
            <a:r>
              <a:t>Group </a:t>
            </a:r>
          </a:p>
          <a:p>
            <a:r>
              <a:t>CitraLand Surabaya, </a:t>
            </a:r>
          </a:p>
          <a:p>
            <a:r>
              <a:t>CitraHarmoni, CitraGarden </a:t>
            </a:r>
          </a:p>
          <a:p>
            <a:r>
              <a:t>Sidoarjo </a:t>
            </a:r>
          </a:p>
          <a:p>
            <a:r>
              <a:t>West Surabaya, </a:t>
            </a:r>
          </a:p>
          <a:p>
            <a:r>
              <a:t>Taman, Buduran </a:t>
            </a:r>
          </a:p>
          <a:p>
            <a:r>
              <a:t>Integrated townships </a:t>
            </a:r>
          </a:p>
          <a:p>
            <a:r>
              <a:t>and master planning </a:t>
            </a:r>
          </a:p>
          <a:p>
            <a:r>
              <a:t>Pakuwon </a:t>
            </a:r>
          </a:p>
          <a:p>
            <a:r>
              <a:t>Group </a:t>
            </a:r>
          </a:p>
          <a:p>
            <a:r>
              <a:t>Pakuwon City, Grand </a:t>
            </a:r>
          </a:p>
          <a:p>
            <a:r>
              <a:t>Pakuwon </a:t>
            </a:r>
          </a:p>
          <a:p>
            <a:r>
              <a:t>East &amp; West </a:t>
            </a:r>
          </a:p>
          <a:p>
            <a:r>
              <a:t>Surabaya </a:t>
            </a:r>
          </a:p>
          <a:p>
            <a:r>
              <a:t>Commercial anchors </a:t>
            </a:r>
          </a:p>
          <a:p>
            <a:r>
              <a:t>and destination </a:t>
            </a:r>
          </a:p>
          <a:p>
            <a:r>
              <a:t>development </a:t>
            </a:r>
          </a:p>
          <a:p>
            <a:r>
              <a:t>Bakrieland </a:t>
            </a:r>
          </a:p>
          <a:p>
            <a:r>
              <a:t>Kahuripan Nirwana </a:t>
            </a:r>
          </a:p>
          <a:p>
            <a:r>
              <a:t>Central Sidoarjo, </a:t>
            </a:r>
          </a:p>
          <a:p>
            <a:r>
              <a:t>Buduran </a:t>
            </a:r>
          </a:p>
          <a:p>
            <a:r>
              <a:t>Sidoarjo township </a:t>
            </a:r>
          </a:p>
          <a:p>
            <a:r>
              <a:t>development </a:t>
            </a:r>
          </a:p>
          <a:p>
            <a:r>
              <a:t>Jaya Land </a:t>
            </a:r>
          </a:p>
          <a:p>
            <a:r>
              <a:t>Puri Surya Jaya, Grand Surya Gedangan, North </a:t>
            </a:r>
          </a:p>
          <a:p>
            <a:r>
              <a:t>Sidoarjo </a:t>
            </a:r>
          </a:p>
          <a:p>
            <a:r>
              <a:t>Established local </a:t>
            </a:r>
          </a:p>
          <a:p>
            <a:r>
              <a:t>housing market </a:t>
            </a:r>
          </a:p>
          <a:p>
            <a:r>
              <a:t>Intiland </a:t>
            </a:r>
          </a:p>
          <a:p>
            <a:r>
              <a:t>Graha Natura, Amesta Living </a:t>
            </a:r>
          </a:p>
          <a:p>
            <a:r>
              <a:t>West &amp; East </a:t>
            </a:r>
          </a:p>
          <a:p>
            <a:r>
              <a:t>Surabaya </a:t>
            </a:r>
          </a:p>
          <a:p>
            <a:r>
              <a:t>Nature-led and </a:t>
            </a:r>
          </a:p>
          <a:p>
            <a:r>
              <a:t>lifestyle-oriented living </a:t>
            </a:r>
          </a:p>
          <a:p>
            <a:r>
              <a:t> </a:t>
            </a:r>
          </a:p>
          <a:p>
            <a:r>
              <a:t>Developer </a:t>
            </a:r>
          </a:p>
          <a:p>
            <a:r>
              <a:t>Development model </a:t>
            </a:r>
          </a:p>
          <a:p>
            <a:r>
              <a:t>Strategic lesson </a:t>
            </a:r>
          </a:p>
          <a:p>
            <a:r>
              <a:t>Ciputra </a:t>
            </a:r>
          </a:p>
          <a:p>
            <a:r>
              <a:t>Long-term master planning with residential, </a:t>
            </a:r>
          </a:p>
          <a:p>
            <a:r>
              <a:t>education, and commercial components </a:t>
            </a:r>
          </a:p>
          <a:p>
            <a:r>
              <a:t>Integrated planning </a:t>
            </a:r>
          </a:p>
          <a:p>
            <a:r>
              <a:t>creates a recognizable </a:t>
            </a:r>
          </a:p>
          <a:p>
            <a:r>
              <a:t>township identity </a:t>
            </a:r>
          </a:p>
          <a:p>
            <a:r>
              <a:t>Pakuwon </a:t>
            </a:r>
          </a:p>
          <a:p>
            <a:r>
              <a:t>Residential development supported by substantial </a:t>
            </a:r>
          </a:p>
          <a:p>
            <a:r>
              <a:t>commercial destinations </a:t>
            </a:r>
          </a:p>
          <a:p>
            <a:r>
              <a:t>Attractions can strengthen </a:t>
            </a:r>
          </a:p>
          <a:p>
            <a:r>
              <a:t>repeat visitation and </a:t>
            </a:r>
          </a:p>
          <a:p>
            <a:r>
              <a:t>recurring income. </a:t>
            </a:r>
          </a:p>
          <a:p>
            <a:r>
              <a:t>Bakrieland </a:t>
            </a:r>
          </a:p>
          <a:p>
            <a:r>
              <a:t>Residential and mixed-use development within a </a:t>
            </a:r>
          </a:p>
          <a:p>
            <a:r>
              <a:t>local township </a:t>
            </a:r>
          </a:p>
          <a:p>
            <a:r>
              <a:t>Local market relevance </a:t>
            </a:r>
          </a:p>
          <a:p>
            <a:r>
              <a:t>and supporting </a:t>
            </a:r>
          </a:p>
          <a:p>
            <a:r>
              <a:t>infrastructure matter. </a:t>
            </a:r>
          </a:p>
          <a:p>
            <a:r>
              <a:t>Jaya Land </a:t>
            </a:r>
          </a:p>
          <a:p>
            <a:r>
              <a:t>Residential clusters positioned around established </a:t>
            </a:r>
          </a:p>
          <a:p>
            <a:r>
              <a:t>housing needs </a:t>
            </a:r>
          </a:p>
          <a:p>
            <a:r>
              <a:t>Product affordability and </a:t>
            </a:r>
          </a:p>
          <a:p>
            <a:r>
              <a:t>practical value remain </a:t>
            </a:r>
          </a:p>
          <a:p>
            <a:r>
              <a:t>fundamental. </a:t>
            </a:r>
          </a:p>
          <a:p/>
          <a:p>
            <a:r>
              <a:t>Intiland </a:t>
            </a:r>
          </a:p>
          <a:p>
            <a:r>
              <a:t>Landscape, architecture, nature, and </a:t>
            </a:r>
          </a:p>
          <a:p>
            <a:r>
              <a:t>lifestyle-oriented development </a:t>
            </a:r>
          </a:p>
          <a:p>
            <a:r>
              <a:t>Experience and </a:t>
            </a:r>
          </a:p>
          <a:p>
            <a:r>
              <a:t>environmental quality can </a:t>
            </a:r>
          </a:p>
          <a:p>
            <a:r>
              <a:t>differentiate homes </a:t>
            </a:r>
          </a:p>
          <a:p>
            <a:r>
              <a:t> </a:t>
            </a:r>
          </a:p>
          <a:p>
            <a:r>
              <a:t>Developer </a:t>
            </a:r>
          </a:p>
          <a:p>
            <a:r>
              <a:t>Revenue FY2025 </a:t>
            </a:r>
          </a:p>
          <a:p>
            <a:r>
              <a:t>YoY growth </a:t>
            </a:r>
          </a:p>
          <a:p>
            <a:r>
              <a:t>Ciputra (CTRA) </a:t>
            </a:r>
          </a:p>
          <a:p>
            <a:r>
              <a:t>Rp12.62T </a:t>
            </a:r>
          </a:p>
          <a:p>
            <a:r>
              <a:t>+12.8% </a:t>
            </a:r>
          </a:p>
          <a:p>
            <a:r>
              <a:t>Pakuwon (PWON) </a:t>
            </a:r>
          </a:p>
          <a:p>
            <a:r>
              <a:t>Rp7.11T </a:t>
            </a:r>
          </a:p>
          <a:p>
            <a:r>
              <a:t>+6.6% </a:t>
            </a:r>
          </a:p>
          <a:p>
            <a:r>
              <a:t>Intiland (DILD) </a:t>
            </a:r>
          </a:p>
          <a:p>
            <a:r>
              <a:t>Rp2.46T </a:t>
            </a:r>
          </a:p>
          <a:p>
            <a:r>
              <a:t>−3.6% </a:t>
            </a:r>
          </a:p>
          <a:p>
            <a:r>
              <a:t>Bakrieland (ELTY) </a:t>
            </a:r>
          </a:p>
          <a:p>
            <a:r>
              <a:t>Rp1.43T </a:t>
            </a:r>
          </a:p>
          <a:p>
            <a:r>
              <a:t>+16.2% </a:t>
            </a:r>
          </a:p>
          <a:p>
            <a:r>
              <a:t>Jaya Land </a:t>
            </a:r>
          </a:p>
          <a:p>
            <a:r>
              <a:t>Not disclosed </a:t>
            </a:r>
          </a:p>
          <a:p>
            <a:r>
              <a:t>— </a:t>
            </a:r>
          </a:p>
          <a:p>
            <a:r>
              <a:t>Tanrise (RISE) </a:t>
            </a:r>
          </a:p>
          <a:p>
            <a:r>
              <a:t>Rp410.7B </a:t>
            </a:r>
          </a:p>
          <a:p>
            <a:r>
              <a:t>+12.3%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19.</a:t>
            </a:r>
          </a:p>
          <a:p>
            <a:r>
              <a:t>Original source wording (for traceability):</a:t>
            </a:r>
          </a:p>
          <a:p>
            <a:r>
              <a:t>SLIDE 19 — BENCHMARKING FRAMEWORK</a:t>
            </a:r>
          </a:p>
          <a:p>
            <a:r>
              <a:t>Five Developers. Five Different Approaches to Township Development </a:t>
            </a:r>
          </a:p>
          <a:p>
            <a:r>
              <a:t>Greater Surabaya's property market is shaped by established developers competing through </a:t>
            </a:r>
          </a:p>
          <a:p>
            <a:r>
              <a:t>master-planned communities, residential accessibility, commercial destinations, and lifestyle </a:t>
            </a:r>
          </a:p>
          <a:p>
            <a:r>
              <a:t>integration. </a:t>
            </a:r>
          </a:p>
          <a:p>
            <a:r>
              <a:t>Developer </a:t>
            </a:r>
          </a:p>
          <a:p>
            <a:r>
              <a:t>Flagship developments </a:t>
            </a:r>
          </a:p>
          <a:p>
            <a:r>
              <a:t>Primary corridors </a:t>
            </a:r>
          </a:p>
          <a:p>
            <a:r>
              <a:t>Core strength </a:t>
            </a:r>
          </a:p>
          <a:p>
            <a:r>
              <a:t>Ciputra </a:t>
            </a:r>
          </a:p>
          <a:p>
            <a:r>
              <a:t>Group </a:t>
            </a:r>
          </a:p>
          <a:p>
            <a:r>
              <a:t>CitraLand Surabaya, </a:t>
            </a:r>
          </a:p>
          <a:p>
            <a:r>
              <a:t>CitraHarmoni, CitraGarden </a:t>
            </a:r>
          </a:p>
          <a:p>
            <a:r>
              <a:t>Sidoarjo </a:t>
            </a:r>
          </a:p>
          <a:p>
            <a:r>
              <a:t>West Surabaya, </a:t>
            </a:r>
          </a:p>
          <a:p>
            <a:r>
              <a:t>Taman, Buduran </a:t>
            </a:r>
          </a:p>
          <a:p>
            <a:r>
              <a:t>Integrated townships </a:t>
            </a:r>
          </a:p>
          <a:p>
            <a:r>
              <a:t>and master planning </a:t>
            </a:r>
          </a:p>
          <a:p>
            <a:r>
              <a:t>Pakuwon </a:t>
            </a:r>
          </a:p>
          <a:p>
            <a:r>
              <a:t>Group </a:t>
            </a:r>
          </a:p>
          <a:p>
            <a:r>
              <a:t>Pakuwon City, Grand </a:t>
            </a:r>
          </a:p>
          <a:p>
            <a:r>
              <a:t>Pakuwon </a:t>
            </a:r>
          </a:p>
          <a:p>
            <a:r>
              <a:t>East &amp; West </a:t>
            </a:r>
          </a:p>
          <a:p>
            <a:r>
              <a:t>Surabaya </a:t>
            </a:r>
          </a:p>
          <a:p>
            <a:r>
              <a:t>Commercial anchors </a:t>
            </a:r>
          </a:p>
          <a:p>
            <a:r>
              <a:t>and destination </a:t>
            </a:r>
          </a:p>
          <a:p>
            <a:r>
              <a:t>development </a:t>
            </a:r>
          </a:p>
          <a:p>
            <a:r>
              <a:t>Bakrieland </a:t>
            </a:r>
          </a:p>
          <a:p>
            <a:r>
              <a:t>Kahuripan Nirwana </a:t>
            </a:r>
          </a:p>
          <a:p>
            <a:r>
              <a:t>Central Sidoarjo, </a:t>
            </a:r>
          </a:p>
          <a:p>
            <a:r>
              <a:t>Buduran </a:t>
            </a:r>
          </a:p>
          <a:p>
            <a:r>
              <a:t>Sidoarjo township </a:t>
            </a:r>
          </a:p>
          <a:p>
            <a:r>
              <a:t>development </a:t>
            </a:r>
          </a:p>
          <a:p>
            <a:r>
              <a:t>Jaya Land </a:t>
            </a:r>
          </a:p>
          <a:p>
            <a:r>
              <a:t>Puri Surya Jaya, Grand Surya Gedangan, North </a:t>
            </a:r>
          </a:p>
          <a:p>
            <a:r>
              <a:t>Sidoarjo </a:t>
            </a:r>
          </a:p>
          <a:p>
            <a:r>
              <a:t>Established local </a:t>
            </a:r>
          </a:p>
          <a:p>
            <a:r>
              <a:t>housing market </a:t>
            </a:r>
          </a:p>
          <a:p>
            <a:r>
              <a:t>Intiland </a:t>
            </a:r>
          </a:p>
          <a:p>
            <a:r>
              <a:t>Graha Natura, Amesta Living </a:t>
            </a:r>
          </a:p>
          <a:p>
            <a:r>
              <a:t>West &amp; East </a:t>
            </a:r>
          </a:p>
          <a:p>
            <a:r>
              <a:t>Surabaya </a:t>
            </a:r>
          </a:p>
          <a:p>
            <a:r>
              <a:t>Nature-led and </a:t>
            </a:r>
          </a:p>
          <a:p>
            <a:r>
              <a:t>lifestyle-oriented living </a:t>
            </a:r>
          </a:p>
          <a:p>
            <a:r>
              <a:t> </a:t>
            </a:r>
          </a:p>
          <a:p>
            <a:r>
              <a:t>Developer </a:t>
            </a:r>
          </a:p>
          <a:p>
            <a:r>
              <a:t>Development model </a:t>
            </a:r>
          </a:p>
          <a:p>
            <a:r>
              <a:t>Strategic lesson </a:t>
            </a:r>
          </a:p>
          <a:p>
            <a:r>
              <a:t>Ciputra </a:t>
            </a:r>
          </a:p>
          <a:p>
            <a:r>
              <a:t>Long-term master planning with residential, </a:t>
            </a:r>
          </a:p>
          <a:p>
            <a:r>
              <a:t>education, and commercial components </a:t>
            </a:r>
          </a:p>
          <a:p>
            <a:r>
              <a:t>Integrated planning </a:t>
            </a:r>
          </a:p>
          <a:p>
            <a:r>
              <a:t>creates a recognizable </a:t>
            </a:r>
          </a:p>
          <a:p>
            <a:r>
              <a:t>township identity </a:t>
            </a:r>
          </a:p>
          <a:p>
            <a:r>
              <a:t>Pakuwon </a:t>
            </a:r>
          </a:p>
          <a:p>
            <a:r>
              <a:t>Residential development supported by substantial </a:t>
            </a:r>
          </a:p>
          <a:p>
            <a:r>
              <a:t>commercial destinations </a:t>
            </a:r>
          </a:p>
          <a:p>
            <a:r>
              <a:t>Attractions can strengthen </a:t>
            </a:r>
          </a:p>
          <a:p>
            <a:r>
              <a:t>repeat visitation and </a:t>
            </a:r>
          </a:p>
          <a:p>
            <a:r>
              <a:t>recurring income. </a:t>
            </a:r>
          </a:p>
          <a:p>
            <a:r>
              <a:t>Bakrieland </a:t>
            </a:r>
          </a:p>
          <a:p>
            <a:r>
              <a:t>Residential and mixed-use development within a </a:t>
            </a:r>
          </a:p>
          <a:p>
            <a:r>
              <a:t>local township </a:t>
            </a:r>
          </a:p>
          <a:p>
            <a:r>
              <a:t>Local market relevance </a:t>
            </a:r>
          </a:p>
          <a:p>
            <a:r>
              <a:t>and supporting </a:t>
            </a:r>
          </a:p>
          <a:p>
            <a:r>
              <a:t>infrastructure matter. </a:t>
            </a:r>
          </a:p>
          <a:p>
            <a:r>
              <a:t>Jaya Land </a:t>
            </a:r>
          </a:p>
          <a:p>
            <a:r>
              <a:t>Residential clusters positioned around established </a:t>
            </a:r>
          </a:p>
          <a:p>
            <a:r>
              <a:t>housing needs </a:t>
            </a:r>
          </a:p>
          <a:p>
            <a:r>
              <a:t>Product affordability and </a:t>
            </a:r>
          </a:p>
          <a:p>
            <a:r>
              <a:t>practical value remain </a:t>
            </a:r>
          </a:p>
          <a:p>
            <a:r>
              <a:t>fundamental. </a:t>
            </a:r>
          </a:p>
          <a:p/>
          <a:p>
            <a:r>
              <a:t>Intiland </a:t>
            </a:r>
          </a:p>
          <a:p>
            <a:r>
              <a:t>Landscape, architecture, nature, and </a:t>
            </a:r>
          </a:p>
          <a:p>
            <a:r>
              <a:t>lifestyle-oriented development </a:t>
            </a:r>
          </a:p>
          <a:p>
            <a:r>
              <a:t>Experience and </a:t>
            </a:r>
          </a:p>
          <a:p>
            <a:r>
              <a:t>environmental quality can </a:t>
            </a:r>
          </a:p>
          <a:p>
            <a:r>
              <a:t>differentiate homes </a:t>
            </a:r>
          </a:p>
          <a:p>
            <a:r>
              <a:t> </a:t>
            </a:r>
          </a:p>
          <a:p>
            <a:r>
              <a:t>Developer </a:t>
            </a:r>
          </a:p>
          <a:p>
            <a:r>
              <a:t>Revenue FY2025 </a:t>
            </a:r>
          </a:p>
          <a:p>
            <a:r>
              <a:t>YoY growth </a:t>
            </a:r>
          </a:p>
          <a:p>
            <a:r>
              <a:t>Ciputra (CTRA) </a:t>
            </a:r>
          </a:p>
          <a:p>
            <a:r>
              <a:t>Rp12.62T </a:t>
            </a:r>
          </a:p>
          <a:p>
            <a:r>
              <a:t>+12.8% </a:t>
            </a:r>
          </a:p>
          <a:p>
            <a:r>
              <a:t>Pakuwon (PWON) </a:t>
            </a:r>
          </a:p>
          <a:p>
            <a:r>
              <a:t>Rp7.11T </a:t>
            </a:r>
          </a:p>
          <a:p>
            <a:r>
              <a:t>+6.6% </a:t>
            </a:r>
          </a:p>
          <a:p>
            <a:r>
              <a:t>Intiland (DILD) </a:t>
            </a:r>
          </a:p>
          <a:p>
            <a:r>
              <a:t>Rp2.46T </a:t>
            </a:r>
          </a:p>
          <a:p>
            <a:r>
              <a:t>−3.6% </a:t>
            </a:r>
          </a:p>
          <a:p>
            <a:r>
              <a:t>Bakrieland (ELTY) </a:t>
            </a:r>
          </a:p>
          <a:p>
            <a:r>
              <a:t>Rp1.43T </a:t>
            </a:r>
          </a:p>
          <a:p>
            <a:r>
              <a:t>+16.2% </a:t>
            </a:r>
          </a:p>
          <a:p>
            <a:r>
              <a:t>Jaya Land </a:t>
            </a:r>
          </a:p>
          <a:p>
            <a:r>
              <a:t>Not disclosed </a:t>
            </a:r>
          </a:p>
          <a:p>
            <a:r>
              <a:t>— </a:t>
            </a:r>
          </a:p>
          <a:p>
            <a:r>
              <a:t>Tanrise (RISE) </a:t>
            </a:r>
          </a:p>
          <a:p>
            <a:r>
              <a:t>Rp410.7B </a:t>
            </a:r>
          </a:p>
          <a:p>
            <a:r>
              <a:t>+12.3%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19.</a:t>
            </a:r>
          </a:p>
          <a:p>
            <a:r>
              <a:t>Original source wording (for traceability):</a:t>
            </a:r>
          </a:p>
          <a:p>
            <a:r>
              <a:t>SLIDE 19 — BENCHMARKING FRAMEWORK</a:t>
            </a:r>
          </a:p>
          <a:p>
            <a:r>
              <a:t>Five Developers. Five Different Approaches to Township Development </a:t>
            </a:r>
          </a:p>
          <a:p>
            <a:r>
              <a:t>Greater Surabaya's property market is shaped by established developers competing through </a:t>
            </a:r>
          </a:p>
          <a:p>
            <a:r>
              <a:t>master-planned communities, residential accessibility, commercial destinations, and lifestyle </a:t>
            </a:r>
          </a:p>
          <a:p>
            <a:r>
              <a:t>integration. </a:t>
            </a:r>
          </a:p>
          <a:p>
            <a:r>
              <a:t>Developer </a:t>
            </a:r>
          </a:p>
          <a:p>
            <a:r>
              <a:t>Flagship developments </a:t>
            </a:r>
          </a:p>
          <a:p>
            <a:r>
              <a:t>Primary corridors </a:t>
            </a:r>
          </a:p>
          <a:p>
            <a:r>
              <a:t>Core strength </a:t>
            </a:r>
          </a:p>
          <a:p>
            <a:r>
              <a:t>Ciputra </a:t>
            </a:r>
          </a:p>
          <a:p>
            <a:r>
              <a:t>Group </a:t>
            </a:r>
          </a:p>
          <a:p>
            <a:r>
              <a:t>CitraLand Surabaya, </a:t>
            </a:r>
          </a:p>
          <a:p>
            <a:r>
              <a:t>CitraHarmoni, CitraGarden </a:t>
            </a:r>
          </a:p>
          <a:p>
            <a:r>
              <a:t>Sidoarjo </a:t>
            </a:r>
          </a:p>
          <a:p>
            <a:r>
              <a:t>West Surabaya, </a:t>
            </a:r>
          </a:p>
          <a:p>
            <a:r>
              <a:t>Taman, Buduran </a:t>
            </a:r>
          </a:p>
          <a:p>
            <a:r>
              <a:t>Integrated townships </a:t>
            </a:r>
          </a:p>
          <a:p>
            <a:r>
              <a:t>and master planning </a:t>
            </a:r>
          </a:p>
          <a:p>
            <a:r>
              <a:t>Pakuwon </a:t>
            </a:r>
          </a:p>
          <a:p>
            <a:r>
              <a:t>Group </a:t>
            </a:r>
          </a:p>
          <a:p>
            <a:r>
              <a:t>Pakuwon City, Grand </a:t>
            </a:r>
          </a:p>
          <a:p>
            <a:r>
              <a:t>Pakuwon </a:t>
            </a:r>
          </a:p>
          <a:p>
            <a:r>
              <a:t>East &amp; West </a:t>
            </a:r>
          </a:p>
          <a:p>
            <a:r>
              <a:t>Surabaya </a:t>
            </a:r>
          </a:p>
          <a:p>
            <a:r>
              <a:t>Commercial anchors </a:t>
            </a:r>
          </a:p>
          <a:p>
            <a:r>
              <a:t>and destination </a:t>
            </a:r>
          </a:p>
          <a:p>
            <a:r>
              <a:t>development </a:t>
            </a:r>
          </a:p>
          <a:p>
            <a:r>
              <a:t>Bakrieland </a:t>
            </a:r>
          </a:p>
          <a:p>
            <a:r>
              <a:t>Kahuripan Nirwana </a:t>
            </a:r>
          </a:p>
          <a:p>
            <a:r>
              <a:t>Central Sidoarjo, </a:t>
            </a:r>
          </a:p>
          <a:p>
            <a:r>
              <a:t>Buduran </a:t>
            </a:r>
          </a:p>
          <a:p>
            <a:r>
              <a:t>Sidoarjo township </a:t>
            </a:r>
          </a:p>
          <a:p>
            <a:r>
              <a:t>development </a:t>
            </a:r>
          </a:p>
          <a:p>
            <a:r>
              <a:t>Jaya Land </a:t>
            </a:r>
          </a:p>
          <a:p>
            <a:r>
              <a:t>Puri Surya Jaya, Grand Surya Gedangan, North </a:t>
            </a:r>
          </a:p>
          <a:p>
            <a:r>
              <a:t>Sidoarjo </a:t>
            </a:r>
          </a:p>
          <a:p>
            <a:r>
              <a:t>Established local </a:t>
            </a:r>
          </a:p>
          <a:p>
            <a:r>
              <a:t>housing market </a:t>
            </a:r>
          </a:p>
          <a:p>
            <a:r>
              <a:t>Intiland </a:t>
            </a:r>
          </a:p>
          <a:p>
            <a:r>
              <a:t>Graha Natura, Amesta Living </a:t>
            </a:r>
          </a:p>
          <a:p>
            <a:r>
              <a:t>West &amp; East </a:t>
            </a:r>
          </a:p>
          <a:p>
            <a:r>
              <a:t>Surabaya </a:t>
            </a:r>
          </a:p>
          <a:p>
            <a:r>
              <a:t>Nature-led and </a:t>
            </a:r>
          </a:p>
          <a:p>
            <a:r>
              <a:t>lifestyle-oriented living </a:t>
            </a:r>
          </a:p>
          <a:p>
            <a:r>
              <a:t> </a:t>
            </a:r>
          </a:p>
          <a:p>
            <a:r>
              <a:t>Developer </a:t>
            </a:r>
          </a:p>
          <a:p>
            <a:r>
              <a:t>Development model </a:t>
            </a:r>
          </a:p>
          <a:p>
            <a:r>
              <a:t>Strategic lesson </a:t>
            </a:r>
          </a:p>
          <a:p>
            <a:r>
              <a:t>Ciputra </a:t>
            </a:r>
          </a:p>
          <a:p>
            <a:r>
              <a:t>Long-term master planning with residential, </a:t>
            </a:r>
          </a:p>
          <a:p>
            <a:r>
              <a:t>education, and commercial components </a:t>
            </a:r>
          </a:p>
          <a:p>
            <a:r>
              <a:t>Integrated planning </a:t>
            </a:r>
          </a:p>
          <a:p>
            <a:r>
              <a:t>creates a recognizable </a:t>
            </a:r>
          </a:p>
          <a:p>
            <a:r>
              <a:t>township identity </a:t>
            </a:r>
          </a:p>
          <a:p>
            <a:r>
              <a:t>Pakuwon </a:t>
            </a:r>
          </a:p>
          <a:p>
            <a:r>
              <a:t>Residential development supported by substantial </a:t>
            </a:r>
          </a:p>
          <a:p>
            <a:r>
              <a:t>commercial destinations </a:t>
            </a:r>
          </a:p>
          <a:p>
            <a:r>
              <a:t>Attractions can strengthen </a:t>
            </a:r>
          </a:p>
          <a:p>
            <a:r>
              <a:t>repeat visitation and </a:t>
            </a:r>
          </a:p>
          <a:p>
            <a:r>
              <a:t>recurring income. </a:t>
            </a:r>
          </a:p>
          <a:p>
            <a:r>
              <a:t>Bakrieland </a:t>
            </a:r>
          </a:p>
          <a:p>
            <a:r>
              <a:t>Residential and mixed-use development within a </a:t>
            </a:r>
          </a:p>
          <a:p>
            <a:r>
              <a:t>local township </a:t>
            </a:r>
          </a:p>
          <a:p>
            <a:r>
              <a:t>Local market relevance </a:t>
            </a:r>
          </a:p>
          <a:p>
            <a:r>
              <a:t>and supporting </a:t>
            </a:r>
          </a:p>
          <a:p>
            <a:r>
              <a:t>infrastructure matter. </a:t>
            </a:r>
          </a:p>
          <a:p>
            <a:r>
              <a:t>Jaya Land </a:t>
            </a:r>
          </a:p>
          <a:p>
            <a:r>
              <a:t>Residential clusters positioned around established </a:t>
            </a:r>
          </a:p>
          <a:p>
            <a:r>
              <a:t>housing needs </a:t>
            </a:r>
          </a:p>
          <a:p>
            <a:r>
              <a:t>Product affordability and </a:t>
            </a:r>
          </a:p>
          <a:p>
            <a:r>
              <a:t>practical value remain </a:t>
            </a:r>
          </a:p>
          <a:p>
            <a:r>
              <a:t>fundamental. </a:t>
            </a:r>
          </a:p>
          <a:p/>
          <a:p>
            <a:r>
              <a:t>Intiland </a:t>
            </a:r>
          </a:p>
          <a:p>
            <a:r>
              <a:t>Landscape, architecture, nature, and </a:t>
            </a:r>
          </a:p>
          <a:p>
            <a:r>
              <a:t>lifestyle-oriented development </a:t>
            </a:r>
          </a:p>
          <a:p>
            <a:r>
              <a:t>Experience and </a:t>
            </a:r>
          </a:p>
          <a:p>
            <a:r>
              <a:t>environmental quality can </a:t>
            </a:r>
          </a:p>
          <a:p>
            <a:r>
              <a:t>differentiate homes </a:t>
            </a:r>
          </a:p>
          <a:p>
            <a:r>
              <a:t> </a:t>
            </a:r>
          </a:p>
          <a:p>
            <a:r>
              <a:t>Developer </a:t>
            </a:r>
          </a:p>
          <a:p>
            <a:r>
              <a:t>Revenue FY2025 </a:t>
            </a:r>
          </a:p>
          <a:p>
            <a:r>
              <a:t>YoY growth </a:t>
            </a:r>
          </a:p>
          <a:p>
            <a:r>
              <a:t>Ciputra (CTRA) </a:t>
            </a:r>
          </a:p>
          <a:p>
            <a:r>
              <a:t>Rp12.62T </a:t>
            </a:r>
          </a:p>
          <a:p>
            <a:r>
              <a:t>+12.8% </a:t>
            </a:r>
          </a:p>
          <a:p>
            <a:r>
              <a:t>Pakuwon (PWON) </a:t>
            </a:r>
          </a:p>
          <a:p>
            <a:r>
              <a:t>Rp7.11T </a:t>
            </a:r>
          </a:p>
          <a:p>
            <a:r>
              <a:t>+6.6% </a:t>
            </a:r>
          </a:p>
          <a:p>
            <a:r>
              <a:t>Intiland (DILD) </a:t>
            </a:r>
          </a:p>
          <a:p>
            <a:r>
              <a:t>Rp2.46T </a:t>
            </a:r>
          </a:p>
          <a:p>
            <a:r>
              <a:t>−3.6% </a:t>
            </a:r>
          </a:p>
          <a:p>
            <a:r>
              <a:t>Bakrieland (ELTY) </a:t>
            </a:r>
          </a:p>
          <a:p>
            <a:r>
              <a:t>Rp1.43T </a:t>
            </a:r>
          </a:p>
          <a:p>
            <a:r>
              <a:t>+16.2% </a:t>
            </a:r>
          </a:p>
          <a:p>
            <a:r>
              <a:t>Jaya Land </a:t>
            </a:r>
          </a:p>
          <a:p>
            <a:r>
              <a:t>Not disclosed </a:t>
            </a:r>
          </a:p>
          <a:p>
            <a:r>
              <a:t>— </a:t>
            </a:r>
          </a:p>
          <a:p>
            <a:r>
              <a:t>Tanrise (RISE) </a:t>
            </a:r>
          </a:p>
          <a:p>
            <a:r>
              <a:t>Rp410.7B </a:t>
            </a:r>
          </a:p>
          <a:p>
            <a:r>
              <a:t>+12.3%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20.</a:t>
            </a:r>
          </a:p>
          <a:p>
            <a:r>
              <a:t>Original source wording (for traceability):</a:t>
            </a:r>
          </a:p>
          <a:p>
            <a:r>
              <a:t>SLIDE 20 — CIPUTRA GROUP</a:t>
            </a:r>
          </a:p>
          <a:p>
            <a:r>
              <a:t>A Great Township Grows Beyond Its Homes. </a:t>
            </a:r>
          </a:p>
          <a:p>
            <a:r>
              <a:t>Key Developments </a:t>
            </a:r>
          </a:p>
          <a:p>
            <a:r>
              <a:t>CitraLand Surabaya, CitraHarmoni, CitraGarden Sidoarjo. </a:t>
            </a:r>
          </a:p>
          <a:p>
            <a:r>
              <a:t> </a:t>
            </a:r>
          </a:p>
          <a:p>
            <a:r>
              <a:t>Competitive Strength </a:t>
            </a:r>
          </a:p>
          <a:p>
            <a:r>
              <a:t>Ciputra builds long-term township value by integrating residential communities with commercial </a:t>
            </a:r>
          </a:p>
          <a:p>
            <a:r>
              <a:t>destinations, educational facilities, and supporting infrastructure. </a:t>
            </a:r>
          </a:p>
          <a:p>
            <a:r>
              <a:t> </a:t>
            </a:r>
          </a:p>
          <a:p>
            <a:r>
              <a:t>Rp12.62T</a:t>
            </a:r>
          </a:p>
          <a:p/>
          <a:p/>
          <a:p>
            <a:r>
              <a:t>Rp9.46T </a:t>
            </a:r>
          </a:p>
          <a:p/>
          <a:p/>
          <a:p>
            <a:r>
              <a:t> </a:t>
            </a:r>
          </a:p>
          <a:p>
            <a:r>
              <a:t>FY2025 revenue</a:t>
            </a:r>
          </a:p>
          <a:p/>
          <a:p/>
          <a:p/>
          <a:p>
            <a:r>
              <a:t>FY2025 marketing sales, −14% YoY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21.</a:t>
            </a:r>
          </a:p>
          <a:p>
            <a:r>
              <a:t>Original source wording (for traceability):</a:t>
            </a:r>
          </a:p>
          <a:p>
            <a:r>
              <a:t>SLIDE 21 — PAKUWON GROUP</a:t>
            </a:r>
          </a:p>
          <a:p>
            <a:r>
              <a:t>Creating Destinations That Give People Reasons to Return. </a:t>
            </a:r>
          </a:p>
          <a:p>
            <a:r>
              <a:t>Key Developments </a:t>
            </a:r>
          </a:p>
          <a:p>
            <a:r>
              <a:t>Pakuwon City, Grand Pakuwon, Pakuwon City Mall. </a:t>
            </a:r>
          </a:p>
          <a:p>
            <a:r>
              <a:t> </a:t>
            </a:r>
          </a:p>
          <a:p/>
          <a:p>
            <a:r>
              <a:t>Competitive Strength </a:t>
            </a:r>
          </a:p>
          <a:p>
            <a:r>
              <a:t>Pakuwon integrates residential communities with established retail, dining, entertainment, and </a:t>
            </a:r>
          </a:p>
          <a:p>
            <a:r>
              <a:t>hospitality destinations, supported by a substantial recurring-income portfolio. </a:t>
            </a:r>
          </a:p>
          <a:p>
            <a:r>
              <a:t> </a:t>
            </a:r>
          </a:p>
          <a:p>
            <a:r>
              <a:t>Rp7.11T </a:t>
            </a:r>
          </a:p>
          <a:p/>
          <a:p/>
          <a:p/>
          <a:p>
            <a:r>
              <a:t>79% </a:t>
            </a:r>
          </a:p>
          <a:p>
            <a:r>
              <a:t>FY2025 revenue</a:t>
            </a:r>
          </a:p>
          <a:p/>
          <a:p/>
          <a:p/>
          <a:p/>
          <a:p>
            <a:r>
              <a:t>FY2025 recurring-revenue contribution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22.</a:t>
            </a:r>
          </a:p>
          <a:p>
            <a:r>
              <a:t>Original source wording (for traceability):</a:t>
            </a:r>
          </a:p>
          <a:p>
            <a:r>
              <a:t>SLIDE 22 — BAKRIELAND DEVELOPMENT</a:t>
            </a:r>
          </a:p>
          <a:p>
            <a:r>
              <a:t>Building a Community Requires More Than Residential Scale. </a:t>
            </a:r>
          </a:p>
          <a:p>
            <a:r>
              <a:t>Key Development </a:t>
            </a:r>
          </a:p>
          <a:p>
            <a:r>
              <a:t>Kahuripan Nirwana, Sidoarjo. </a:t>
            </a:r>
          </a:p>
          <a:p>
            <a:r>
              <a:t> </a:t>
            </a:r>
          </a:p>
          <a:p>
            <a:r>
              <a:t>Competitive Strength </a:t>
            </a:r>
          </a:p>
          <a:p>
            <a:r>
              <a:t>An established Sidoarjo township combining landed housing, apartments, shophouses, food </a:t>
            </a:r>
          </a:p>
          <a:p>
            <a:r>
              <a:t>courts, and supporting facilities. </a:t>
            </a:r>
          </a:p>
          <a:p>
            <a:r>
              <a:t> </a:t>
            </a:r>
          </a:p>
          <a:p>
            <a:r>
              <a:t>2,000 ha </a:t>
            </a:r>
          </a:p>
          <a:p>
            <a:r>
              <a:t>Stated long-term development potential of Kahuripan Nirwana, not completed development area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23.</a:t>
            </a:r>
          </a:p>
          <a:p>
            <a:r>
              <a:t>Original source wording (for traceability):</a:t>
            </a:r>
          </a:p>
          <a:p>
            <a:r>
              <a:t>SLIDE 23 — JAYA LAND</a:t>
            </a:r>
          </a:p>
          <a:p>
            <a:r>
              <a:t>Understanding the Everyday Value of a Home </a:t>
            </a:r>
          </a:p>
          <a:p>
            <a:r>
              <a:t>Key Developments </a:t>
            </a:r>
          </a:p>
          <a:p>
            <a:r>
              <a:t>Puri Surya Jaya, Grand Surya, and other Sidoarjo residential products. </a:t>
            </a:r>
          </a:p>
          <a:p>
            <a:r>
              <a:t> </a:t>
            </a:r>
          </a:p>
          <a:p>
            <a:r>
              <a:t>Competitive Strength </a:t>
            </a:r>
          </a:p>
          <a:p>
            <a:r>
              <a:t>Local residential offerings that demonstrate the importance of practical layouts, location, </a:t>
            </a:r>
          </a:p>
          <a:p>
            <a:r>
              <a:t>household budgets, and attainable ownership. </a:t>
            </a:r>
          </a:p>
          <a:p>
            <a:r>
              <a:t> </a:t>
            </a:r>
          </a:p>
          <a:p>
            <a:r>
              <a:t>Rp465M </a:t>
            </a:r>
          </a:p>
          <a:p>
            <a:r>
              <a:t>Registered Grand Surya Jupiter house price: 36 m² building / 73 m² land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24.</a:t>
            </a:r>
          </a:p>
          <a:p>
            <a:r>
              <a:t>Original source wording (for traceability):</a:t>
            </a:r>
          </a:p>
          <a:p>
            <a:r>
              <a:t>SLIDE 24 — INTILAND DEVELOPMENT</a:t>
            </a:r>
          </a:p>
          <a:p>
            <a:r>
              <a:t>When Nature and Lifestyle Become Part of Everyday Living. </a:t>
            </a:r>
          </a:p>
          <a:p/>
          <a:p>
            <a:r>
              <a:t>Key Developments </a:t>
            </a:r>
          </a:p>
          <a:p>
            <a:r>
              <a:t>Graha Natura, Amesta Living, Graha Famili. </a:t>
            </a:r>
          </a:p>
          <a:p>
            <a:r>
              <a:t> </a:t>
            </a:r>
          </a:p>
          <a:p>
            <a:r>
              <a:t>Competitive Strength </a:t>
            </a:r>
          </a:p>
          <a:p>
            <a:r>
              <a:t>Differentiated residential environments integrating landscape, green open space, recreation, </a:t>
            </a:r>
          </a:p>
          <a:p>
            <a:r>
              <a:t>and lifestyle facilities into the living experience. </a:t>
            </a:r>
          </a:p>
          <a:p>
            <a:r>
              <a:t> </a:t>
            </a:r>
          </a:p>
          <a:p>
            <a:r>
              <a:t>86 ha </a:t>
            </a:r>
          </a:p>
          <a:p/>
          <a:p/>
          <a:p/>
          <a:p/>
          <a:p/>
          <a:p>
            <a:r>
              <a:t>Rp1.61T </a:t>
            </a:r>
          </a:p>
          <a:p>
            <a:r>
              <a:t>Graha Natura development area</a:t>
            </a:r>
          </a:p>
          <a:p/>
          <a:p/>
          <a:p/>
          <a:p>
            <a:r>
              <a:t>FY2025 group marketing sales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25.</a:t>
            </a:r>
          </a:p>
          <a:p>
            <a:r>
              <a:t>Original source wording (for traceability):</a:t>
            </a:r>
          </a:p>
          <a:p>
            <a:r>
              <a:t>SLIDE 25 —</a:t>
            </a:r>
          </a:p>
          <a:p>
            <a:r>
              <a:t>The ambition goes beyond building a township. It is about creating a </a:t>
            </a:r>
          </a:p>
          <a:p>
            <a:r>
              <a:t>destination that becomes part of how people live, explore, and connect.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26.</a:t>
            </a:r>
          </a:p>
          <a:p>
            <a:r>
              <a:t>Original source wording (for traceability):</a:t>
            </a:r>
          </a:p>
          <a:p>
            <a:r>
              <a:t>SLIDE 26 — BSD CITY</a:t>
            </a:r>
          </a:p>
          <a:p>
            <a:r>
              <a:t>Building an identity around an ecosystem. </a:t>
            </a:r>
          </a:p>
          <a:p>
            <a:r>
              <a:t>BSD City connects residential development with education facilities and the Digital Hub </a:t>
            </a:r>
          </a:p>
          <a:p>
            <a:r>
              <a:t>platform. </a:t>
            </a:r>
          </a:p>
          <a:p>
            <a:r>
              <a:t>Strategic lesson </a:t>
            </a:r>
          </a:p>
          <a:p>
            <a:r>
              <a:t>Specialized positioning requires institutions, infrastructure, partners, and sustained activity. </a:t>
            </a:r>
          </a:p>
          <a:p>
            <a:r>
              <a:t>Application for Tanrise </a:t>
            </a:r>
          </a:p>
          <a:p>
            <a:r>
              <a:t>A technology, education, or enterprise direction should be supported by: </a:t>
            </a:r>
          </a:p>
          <a:p>
            <a:r>
              <a:t>● Proven demand. </a:t>
            </a:r>
          </a:p>
          <a:p>
            <a:r>
              <a:t>● Relevant anchor partners. </a:t>
            </a:r>
          </a:p>
          <a:p>
            <a:r>
              <a:t>● Appropriate infrastructure. </a:t>
            </a:r>
          </a:p>
          <a:p>
            <a:r>
              <a:t>● A viable operating model. </a:t>
            </a:r>
          </a:p>
          <a:p>
            <a:r>
              <a:t>The identity must be supported by what the development can deliver.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27.</a:t>
            </a:r>
          </a:p>
          <a:p>
            <a:r>
              <a:t>Original source wording (for traceability):</a:t>
            </a:r>
          </a:p>
          <a:p>
            <a:r>
              <a:t>SLIDE 27 — PIK</a:t>
            </a:r>
          </a:p>
          <a:p>
            <a:r>
              <a:t>Creating a recognizable reason to visit. </a:t>
            </a:r>
          </a:p>
          <a:p>
            <a:r>
              <a:t>PIK’s published lifestyle offering includes themed culinary and leisure destinations, supported by </a:t>
            </a:r>
          </a:p>
          <a:p>
            <a:r>
              <a:t>coordinated visitor programming. </a:t>
            </a:r>
          </a:p>
          <a:p>
            <a:r>
              <a:t>Strategic lesson </a:t>
            </a:r>
          </a:p>
          <a:p>
            <a:r>
              <a:t>Distinctive experiences can introduce people to a place before they consider living there. </a:t>
            </a:r>
          </a:p>
          <a:p>
            <a:r>
              <a:t>Application for Tanrise </a:t>
            </a:r>
          </a:p>
          <a:p>
            <a:r>
              <a:t>Explore a signature destination that: </a:t>
            </a:r>
          </a:p>
          <a:p>
            <a:r>
              <a:t>● Serves residents. </a:t>
            </a:r>
          </a:p>
          <a:p>
            <a:r>
              <a:t>● Welcomes surrounding communities. </a:t>
            </a:r>
          </a:p>
          <a:p>
            <a:r>
              <a:t>● Encourages repeat visits. </a:t>
            </a:r>
          </a:p>
          <a:p>
            <a:r>
              <a:t>● Has sustainable commercial demand. </a:t>
            </a:r>
          </a:p>
          <a:p>
            <a:r>
              <a:t>A destination should contribute to the neighborhood throughout the week.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28.</a:t>
            </a:r>
          </a:p>
          <a:p>
            <a:r>
              <a:t>Original source wording (for traceability):</a:t>
            </a:r>
          </a:p>
          <a:p>
            <a:r>
              <a:t>SLIDE 28 — BENCHMARK SYNTHESIS</a:t>
            </a:r>
          </a:p>
          <a:p>
            <a:r>
              <a:t>Integration establishes relevance. A clear role creates distinction. </a:t>
            </a:r>
          </a:p>
          <a:p>
            <a:r>
              <a:t>Reference </a:t>
            </a:r>
          </a:p>
          <a:p>
            <a:r>
              <a:t>Lesson for Tanrise </a:t>
            </a:r>
          </a:p>
          <a:p>
            <a:r>
              <a:t>Agung Sedayu Group </a:t>
            </a:r>
          </a:p>
          <a:p>
            <a:r>
              <a:t>Coordinate homes, services, and destinations. </a:t>
            </a:r>
          </a:p>
          <a:p>
            <a:r>
              <a:t>Agung Podomoro Land Make the lifestyle promise visible. </a:t>
            </a:r>
          </a:p>
          <a:p>
            <a:r>
              <a:t>Summarecon </a:t>
            </a:r>
          </a:p>
          <a:p>
            <a:r>
              <a:t>Support residential life with daily facilities. </a:t>
            </a:r>
          </a:p>
          <a:p>
            <a:r>
              <a:t>Sentul City </a:t>
            </a:r>
          </a:p>
          <a:p>
            <a:r>
              <a:t>Express environmental identity through usable </a:t>
            </a:r>
          </a:p>
          <a:p>
            <a:r>
              <a:t>spaces. </a:t>
            </a:r>
          </a:p>
          <a:p>
            <a:r>
              <a:t>Pakuwon </a:t>
            </a:r>
          </a:p>
          <a:p>
            <a:r>
              <a:t>Understand regional expectations of convenience. </a:t>
            </a:r>
          </a:p>
          <a:p>
            <a:r>
              <a:t>BSD City </a:t>
            </a:r>
          </a:p>
          <a:p>
            <a:r>
              <a:t>Build specialized identity through an ecosystem. </a:t>
            </a:r>
          </a:p>
          <a:p>
            <a:r>
              <a:t>PIK </a:t>
            </a:r>
          </a:p>
          <a:p>
            <a:r>
              <a:t>Give the place a recognizable experience.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29.</a:t>
            </a:r>
          </a:p>
          <a:p>
            <a:r>
              <a:t>Original source wording (for traceability):</a:t>
            </a:r>
          </a:p>
          <a:p>
            <a:r>
              <a:t>SLIDE 29 — COMPARABLE CORRIDOR STUDIES</a:t>
            </a:r>
          </a:p>
          <a:p>
            <a:r>
              <a:t>Understand the mechanism behind the growth. </a:t>
            </a:r>
          </a:p>
          <a:p>
            <a:r>
              <a:t>Jakarta–Tangerang / BSD–Serpong</a:t>
            </a:r>
          </a:p>
          <a:p>
            <a:r>
              <a:t>A reference for investigating the relationship between employment, education, services, and </a:t>
            </a:r>
          </a:p>
          <a:p>
            <a:r>
              <a:t>residential development. </a:t>
            </a:r>
          </a:p>
          <a:p>
            <a:r>
              <a:t>Greater Jakarta–Sentul</a:t>
            </a:r>
          </a:p>
          <a:p>
            <a:r>
              <a:t>A reference for investigating how landscape and recreation contribute to residential and </a:t>
            </a:r>
          </a:p>
          <a:p>
            <a:r>
              <a:t>destination identity. </a:t>
            </a:r>
          </a:p>
          <a:p>
            <a:r>
              <a:t>Surabaya–Sidoarjo</a:t>
            </a:r>
          </a:p>
          <a:p>
            <a:r>
              <a:t>The application context for testing combinations of employment access, housing, services, and </a:t>
            </a:r>
          </a:p>
          <a:p>
            <a:r>
              <a:t>leisure.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30.</a:t>
            </a:r>
          </a:p>
          <a:p>
            <a:r>
              <a:t>Original source wording (for traceability):</a:t>
            </a:r>
          </a:p>
          <a:p>
            <a:r>
              <a:t>SLIDE 30 —</a:t>
            </a:r>
          </a:p>
          <a:p>
            <a:r>
              <a:t>04 — MARKET GAPS &amp; OPPORTUNITIES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31.</a:t>
            </a:r>
          </a:p>
          <a:p>
            <a:r>
              <a:t>Original source wording (for traceability):</a:t>
            </a:r>
          </a:p>
          <a:p>
            <a:r>
              <a:t>SLIDE 31 — OPPORTUNITY FRAMEWORK</a:t>
            </a:r>
          </a:p>
          <a:p>
            <a:r>
              <a:t>Industry 4.0: As Industries Evolve, So Should the Way People Live. </a:t>
            </a:r>
          </a:p>
          <a:p>
            <a:r>
              <a:t>Everyday Convenience</a:t>
            </a:r>
          </a:p>
          <a:p>
            <a:r>
              <a:t>Can the development make essential services easier to access? </a:t>
            </a:r>
          </a:p>
          <a:p>
            <a:r>
              <a:t>Active Community Life</a:t>
            </a:r>
          </a:p>
          <a:p>
            <a:r>
              <a:t>Can shared spaces and regular activities support meaningful connections? </a:t>
            </a:r>
          </a:p>
          <a:p>
            <a:r>
              <a:t>Comfortable Outdoor Living</a:t>
            </a:r>
          </a:p>
          <a:p>
            <a:r>
              <a:t>Can landscape and public space improve the everyday residential experience?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32.</a:t>
            </a:r>
          </a:p>
          <a:p>
            <a:r>
              <a:t>Original source wording (for traceability):</a:t>
            </a:r>
          </a:p>
          <a:p>
            <a:r>
              <a:t>SLIDE 32 — OPPORTUNITY 01: EVERYDAY CONVENIENCE</a:t>
            </a:r>
          </a:p>
          <a:p>
            <a:r>
              <a:t>Make daily life easier to organize. </a:t>
            </a:r>
          </a:p>
          <a:p>
            <a:r>
              <a:t>Explore demand for: </a:t>
            </a:r>
          </a:p>
          <a:p>
            <a:r>
              <a:t>● Homes connected to useful daily services. </a:t>
            </a:r>
          </a:p>
          <a:p/>
          <a:p>
            <a:r>
              <a:t>● Practical access to education and healthcare. </a:t>
            </a:r>
          </a:p>
          <a:p>
            <a:r>
              <a:t>● Clear and safe internal movement. </a:t>
            </a:r>
          </a:p>
          <a:p>
            <a:r>
              <a:t>● Convenient dining and household retail.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33.</a:t>
            </a:r>
          </a:p>
          <a:p>
            <a:r>
              <a:t>Original source wording (for traceability):</a:t>
            </a:r>
          </a:p>
          <a:p>
            <a:r>
              <a:t>SLIDE 33 — OPPORTUNITY 02: ACTIVE COMMUNITY LIFE</a:t>
            </a:r>
          </a:p>
          <a:p>
            <a:r>
              <a:t>Create shared spaces with a purpose. </a:t>
            </a:r>
          </a:p>
          <a:p>
            <a:r>
              <a:t>Explore demand for: </a:t>
            </a:r>
          </a:p>
          <a:p>
            <a:r>
              <a:t>● Flexible gathering spaces. </a:t>
            </a:r>
          </a:p>
          <a:p>
            <a:r>
              <a:t>● Family recreation. </a:t>
            </a:r>
          </a:p>
          <a:p>
            <a:r>
              <a:t>● Sports and wellbeing activities. </a:t>
            </a:r>
          </a:p>
          <a:p>
            <a:r>
              <a:t>● Local markets and neighborhood events.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34.</a:t>
            </a:r>
          </a:p>
          <a:p>
            <a:r>
              <a:t>Original source wording (for traceability):</a:t>
            </a:r>
          </a:p>
          <a:p>
            <a:r>
              <a:t>SLIDE 34 — OPPORTUNITY 03: COMFORTABLE OUTDOOR LIVING</a:t>
            </a:r>
          </a:p>
          <a:p>
            <a:r>
              <a:t>Make outdoor space useful every day. </a:t>
            </a:r>
          </a:p>
          <a:p>
            <a:r>
              <a:t>Explore opportunities for: </a:t>
            </a:r>
          </a:p>
          <a:p>
            <a:r>
              <a:t>● Shaded walking routes. </a:t>
            </a:r>
          </a:p>
          <a:p>
            <a:r>
              <a:t>● Accessible play and recreation areas. </a:t>
            </a:r>
          </a:p>
          <a:p>
            <a:r>
              <a:t>● Comfortable seating and resting points. </a:t>
            </a:r>
          </a:p>
          <a:p>
            <a:r>
              <a:t>● Landscape integrated with drainage and maintenance.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35.</a:t>
            </a:r>
          </a:p>
          <a:p>
            <a:r>
              <a:t>Original source wording (for traceability):</a:t>
            </a:r>
          </a:p>
          <a:p>
            <a:r>
              <a:t>SLIDE 35 — THE STRATEGIC OPPORTUNITY</a:t>
            </a:r>
          </a:p>
          <a:p>
            <a:r>
              <a:t>Bring the essentials of a better day together. </a:t>
            </a:r>
          </a:p>
          <a:p>
            <a:r>
              <a:t>A potential role for Tanrise City Sidoarjo is to connect homes, services, recreation, and </a:t>
            </a:r>
          </a:p>
          <a:p>
            <a:r>
              <a:t>community within a coordinated environment. </a:t>
            </a:r>
          </a:p>
          <a:p>
            <a:r>
              <a:t>Sunrise Residence Sidoarjo can express this direction through the residential experience—from </a:t>
            </a:r>
          </a:p>
          <a:p>
            <a:r>
              <a:t>the home itself to the spaces and services around it. </a:t>
            </a:r>
          </a:p>
          <a:p>
            <a:r>
              <a:t>Working opportunity </a:t>
            </a:r>
          </a:p>
          <a:p>
            <a:r>
              <a:t>A connected place to live, grow, and belong.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36.</a:t>
            </a:r>
          </a:p>
          <a:p>
            <a:r>
              <a:t>Original source wording (for traceability):</a:t>
            </a:r>
          </a:p>
          <a:p>
            <a:r>
              <a:t>SLIDE 36 —</a:t>
            </a:r>
          </a:p>
          <a:p>
            <a:r>
              <a:t>05 — CITY POSITIONING &amp; STRATEGIC DIRECTION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37.</a:t>
            </a:r>
          </a:p>
          <a:p>
            <a:r>
              <a:t>Original source wording (for traceability):</a:t>
            </a:r>
          </a:p>
          <a:p>
            <a:r>
              <a:t>SLIDE 37 — POSITIONING ALTERNATIVES</a:t>
            </a:r>
          </a:p>
          <a:p>
            <a:r>
              <a:t>The City of Better Living </a:t>
            </a:r>
          </a:p>
          <a:p>
            <a:r>
              <a:t>A Better Life in Motion. </a:t>
            </a:r>
          </a:p>
          <a:p>
            <a:r>
              <a:t>A family township built around active living, recreation, education, and connected daily services.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38.</a:t>
            </a:r>
          </a:p>
          <a:p>
            <a:r>
              <a:t>Original source wording (for traceability):</a:t>
            </a:r>
          </a:p>
          <a:p>
            <a:r>
              <a:t>SLIDE 38 — RECOMMENDED POSITIONING</a:t>
            </a:r>
          </a:p>
          <a:p>
            <a:r>
              <a:t>TANRISE CITY SIDOARJO </a:t>
            </a:r>
          </a:p>
          <a:p>
            <a:r>
              <a:t>A City That Moves Life Forward </a:t>
            </a:r>
          </a:p>
          <a:p>
            <a:r>
              <a:t>Through Sunrise Residence Sidoarjo, this proposition becomes a residential experience </a:t>
            </a:r>
          </a:p>
          <a:p>
            <a:r>
              <a:t>shaped around practical needs and a welcoming community environment. </a:t>
            </a:r>
          </a:p>
          <a:p>
            <a:r>
              <a:t>The promise </a:t>
            </a:r>
          </a:p>
          <a:p>
            <a:r>
              <a:t>A City That Moves Life Forward </a:t>
            </a:r>
          </a:p>
          <a:p>
            <a:r>
              <a:t>Economic foundation: Sidoarjo’s manufacturing, logistics, commerce, and professional </a:t>
            </a:r>
          </a:p>
          <a:p>
            <a:r>
              <a:t>economy. </a:t>
            </a:r>
          </a:p>
          <a:p>
            <a:r>
              <a:t>Experiential identity: Active living, green public space, family recreation, and community activity. </a:t>
            </a:r>
          </a:p>
          <a:p>
            <a:r>
              <a:t>Long-term anchors: Education, enterprise, and a thriving neighborhood town centre.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39.</a:t>
            </a:r>
          </a:p>
          <a:p>
            <a:r>
              <a:t>Original source wording (for traceability):</a:t>
            </a:r>
          </a:p>
          <a:p>
            <a:r>
              <a:t>SLIDE 39 — THREE DEVELOPMENT PILLARS</a:t>
            </a:r>
          </a:p>
          <a:p>
            <a:r>
              <a:t>Everyday Ease</a:t>
            </a:r>
          </a:p>
          <a:p>
            <a:r>
              <a:t>Connect homes with the services and routes people use most. </a:t>
            </a:r>
          </a:p>
          <a:p/>
          <a:p>
            <a:r>
              <a:t>Shared Vitality</a:t>
            </a:r>
          </a:p>
          <a:p>
            <a:r>
              <a:t>Create welcoming places for recreation, gathering, and local activity. </a:t>
            </a:r>
          </a:p>
          <a:p>
            <a:r>
              <a:t>Lasting Care</a:t>
            </a:r>
          </a:p>
          <a:p>
            <a:r>
              <a:t>Maintain the quality of the environment through dependable infrastructure and estate </a:t>
            </a:r>
          </a:p>
          <a:p>
            <a:r>
              <a:t>management. </a:t>
            </a:r>
          </a:p>
          <a:p>
            <a:r>
              <a:t>Together, these pillars guide how the development is planned, experienced, and </a:t>
            </a:r>
          </a:p>
          <a:p>
            <a:r>
              <a:t>sustained.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40.</a:t>
            </a:r>
          </a:p>
          <a:p>
            <a:r>
              <a:t>Original source wording (for traceability):</a:t>
            </a:r>
          </a:p>
          <a:p>
            <a:r>
              <a:t>SLIDE 40 — TRANSLATING THE PILLARS INTO PLACE</a:t>
            </a:r>
          </a:p>
          <a:p>
            <a:r>
              <a:t>Every promise needs a physical response. </a:t>
            </a:r>
          </a:p>
          <a:p>
            <a:r>
              <a:t>Pillar </a:t>
            </a:r>
          </a:p>
          <a:p>
            <a:r>
              <a:t>Potential Development Response </a:t>
            </a:r>
          </a:p>
          <a:p>
            <a:r>
              <a:t>Everyday </a:t>
            </a:r>
          </a:p>
          <a:p>
            <a:r>
              <a:t>Ease </a:t>
            </a:r>
          </a:p>
          <a:p>
            <a:r>
              <a:t>Convenient daily retail, legible access, and routes connecting homes with </a:t>
            </a:r>
          </a:p>
          <a:p>
            <a:r>
              <a:t>shared facilities. </a:t>
            </a:r>
          </a:p>
          <a:p>
            <a:r>
              <a:t>Shared </a:t>
            </a:r>
          </a:p>
          <a:p>
            <a:r>
              <a:t>Vitality </a:t>
            </a:r>
          </a:p>
          <a:p>
            <a:r>
              <a:t>Recreation areas, flexible gathering spaces, and a recognizable community </a:t>
            </a:r>
          </a:p>
          <a:p>
            <a:r>
              <a:t>destination. </a:t>
            </a:r>
          </a:p>
          <a:p>
            <a:r>
              <a:t>Lasting Care </a:t>
            </a:r>
          </a:p>
          <a:p>
            <a:r>
              <a:t>Maintainable landscapes, drainage infrastructure, service access, and a clear </a:t>
            </a:r>
          </a:p>
          <a:p>
            <a:r>
              <a:t>management framework. </a:t>
            </a:r>
          </a:p>
          <a:p>
            <a:r>
              <a:t>Facility sizes, land-use proportions, and locations should follow demand analysis and </a:t>
            </a:r>
          </a:p>
          <a:p>
            <a:r>
              <a:t>technical assessment.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41.</a:t>
            </a:r>
          </a:p>
          <a:p>
            <a:r>
              <a:t>Original source wording (for traceability):</a:t>
            </a:r>
          </a:p>
          <a:p>
            <a:r>
              <a:t>SLIDE 41 — A SIGNATURE COMMUNITY DESTINATION</a:t>
            </a:r>
          </a:p>
          <a:p>
            <a:r>
              <a:t>Give the development a place to come together. </a:t>
            </a:r>
          </a:p>
          <a:p>
            <a:r>
              <a:t>Explore a community destination combining selected elements such as: </a:t>
            </a:r>
          </a:p>
          <a:p>
            <a:r>
              <a:t>● Everyday dining and local retail. </a:t>
            </a:r>
          </a:p>
          <a:p>
            <a:r>
              <a:t>● Flexible gathering and event space. </a:t>
            </a:r>
          </a:p>
          <a:p>
            <a:r>
              <a:t>● Family recreation. </a:t>
            </a:r>
          </a:p>
          <a:p>
            <a:r>
              <a:t>● Landscaped outdoor areas. </a:t>
            </a:r>
          </a:p>
          <a:p>
            <a:r>
              <a:t>Its role is to serve residents and offer surrounding communities a relevant reason to visit. </a:t>
            </a:r>
          </a:p>
          <a:p>
            <a:r>
              <a:t>Begin with uses that can sustain regular demand. Expand as the community grows.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42.</a:t>
            </a:r>
          </a:p>
          <a:p>
            <a:r>
              <a:t>Original source wording (for traceability):</a:t>
            </a:r>
          </a:p>
          <a:p>
            <a:r>
              <a:t>SLIDE 42 — DEVELOPMENT SEQUENCE</a:t>
            </a:r>
          </a:p>
          <a:p>
            <a:r>
              <a:t>Build confidence through the first residential experience. </a:t>
            </a:r>
          </a:p>
          <a:p>
            <a:r>
              <a:t>Establish the Foundation</a:t>
            </a:r>
          </a:p>
          <a:p>
            <a:r>
              <a:t>Deliver access, utilities, drainage, homes, and essential services. </a:t>
            </a:r>
          </a:p>
          <a:p>
            <a:r>
              <a:t>Activate the Community</a:t>
            </a:r>
          </a:p>
          <a:p>
            <a:r>
              <a:t>Introduce shared spaces, recreation, and appropriate activities as occupancy grows. </a:t>
            </a:r>
          </a:p>
          <a:p>
            <a:r>
              <a:t>Expand the Offering</a:t>
            </a:r>
          </a:p>
          <a:p>
            <a:r>
              <a:t>Add larger commercial or institutional components when demand and partnerships justify them.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43.</a:t>
            </a:r>
          </a:p>
          <a:p>
            <a:r>
              <a:t>Original source wording (for traceability):</a:t>
            </a:r>
          </a:p>
          <a:p>
            <a:r>
              <a:t>SLIDE 43 — PROPOSED VISION &amp; MISSION</a:t>
            </a:r>
          </a:p>
          <a:p>
            <a:r>
              <a:t>Vision </a:t>
            </a:r>
          </a:p>
          <a:p>
            <a:r>
              <a:t>To become a connected community in Sidoarjo where people can build a better everyday life. </a:t>
            </a:r>
          </a:p>
          <a:p>
            <a:r>
              <a:t>Mission </a:t>
            </a:r>
          </a:p>
          <a:p>
            <a:r>
              <a:t>● Develop homes and shared environments around practical household needs. </a:t>
            </a:r>
          </a:p>
          <a:p>
            <a:r>
              <a:t>● Connect residential life with relevant services, recreation, and local activity. </a:t>
            </a:r>
          </a:p>
          <a:p>
            <a:r>
              <a:t>● Sustain the quality of the place through responsible planning and dependable </a:t>
            </a:r>
          </a:p>
          <a:p>
            <a:r>
              <a:t>management. </a:t>
            </a:r>
          </a:p>
          <a:p>
            <a:r>
              <a:t>Sunrise Residence Sidoarjo brings this ambition into the everyday experience of its </a:t>
            </a:r>
          </a:p>
          <a:p>
            <a:r>
              <a:t>residents.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44.</a:t>
            </a:r>
          </a:p>
          <a:p>
            <a:r>
              <a:t>Original source wording (for traceability):</a:t>
            </a:r>
          </a:p>
          <a:p>
            <a:r>
              <a:t>SLIDE 44 — VALIDATION &amp; ALIGNMENT</a:t>
            </a:r>
          </a:p>
          <a:p>
            <a:r>
              <a:t>Establish the evidence behind the direction. </a:t>
            </a:r>
          </a:p>
          <a:p>
            <a:r>
              <a:t>Site &amp; Planning</a:t>
            </a:r>
          </a:p>
          <a:p>
            <a:r>
              <a:t>Confirm boundaries, access, permitted uses, constraints, and masterplan status. </a:t>
            </a:r>
          </a:p>
          <a:p>
            <a:r>
              <a:t>Market &amp; Customers</a:t>
            </a:r>
          </a:p>
          <a:p>
            <a:r>
              <a:t>Establish catchment demographics, affordability, buyer motivations, and competing supply. </a:t>
            </a:r>
          </a:p>
          <a:p/>
          <a:p>
            <a:r>
              <a:t>Commercial &amp; Delivery</a:t>
            </a:r>
          </a:p>
          <a:p>
            <a:r>
              <a:t>Test product economics, partnerships, operating requirements, and phasing. </a:t>
            </a:r>
          </a:p>
          <a:p>
            <a:r>
              <a:t>Management Alignment</a:t>
            </a:r>
          </a:p>
          <a:p>
            <a:r>
              <a:t>Agree on priority audiences, development ambition, positioning, and approval criteria.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Tanrise City Sidoarjo.pdf — planned slide 45.</a:t>
            </a:r>
          </a:p>
          <a:p>
            <a:r>
              <a:t>Original source wording (for traceability):</a:t>
            </a:r>
          </a:p>
          <a:p>
            <a:r>
              <a:t>SLIDE 45 — CLOSING</a:t>
            </a:r>
          </a:p>
          <a:p>
            <a:r>
              <a:t>TANRISE CITY SIDOARJO </a:t>
            </a:r>
          </a:p>
          <a:p>
            <a:r>
              <a:t>A Better-Connected Everyday Life </a:t>
            </a:r>
          </a:p>
          <a:p>
            <a:r>
              <a:t>Through Sunrise Residence Sidoarjo, the opportunity is to connect well-considered homes with </a:t>
            </a:r>
          </a:p>
          <a:p>
            <a:r>
              <a:t>relevant services, shared activity, and dependable care. </a:t>
            </a:r>
          </a:p>
          <a:p>
            <a:r>
              <a:t>A place to live. A community to grow with.</a:t>
            </a:r>
          </a:p>
          <a:p/>
          <a:p>
            <a:r>
              <a:t>Design: ivory #F8F3EB; ochre #BB8A27; geometric sans heading substitute Open Sans; serif body substitute Liberation Serif. No wording from the visual reference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C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FFFFFF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FFFFFF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FFFFFF"/>
                </a:solidFill>
                <a:latin typeface="Open San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FFFFFF"/>
                </a:solidFill>
                <a:latin typeface="Open Sans"/>
              </a:defRPr>
            </a:pPr>
            <a:r>
              <a:rPr spc="110"/>
              <a:t>SLIDE 01 — COVER</a:t>
            </a:r>
          </a:p>
        </p:txBody>
      </p:sp>
      <p:pic>
        <p:nvPicPr>
          <p:cNvPr id="6" name="Picture 5" descr="source_p6_im0.png"/>
          <p:cNvPicPr>
            <a:picLocks noChangeAspect="1"/>
          </p:cNvPicPr>
          <p:nvPr/>
        </p:nvPicPr>
        <p:blipFill>
          <a:blip r:embed="rId3"/>
          <a:srcRect l="25000" r="25000"/>
          <a:stretch>
            <a:fillRect/>
          </a:stretch>
        </p:blipFill>
        <p:spPr>
          <a:xfrm>
            <a:off x="7452360" y="1536192"/>
            <a:ext cx="4983480" cy="66385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1938528"/>
            <a:ext cx="61722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600" b="0" i="0">
                <a:solidFill>
                  <a:srgbClr val="FFFFFF"/>
                </a:solidFill>
                <a:latin typeface="Open Sans"/>
              </a:defRPr>
            </a:pPr>
            <a:r>
              <a:rPr spc="150"/>
              <a:t>TANRISE CITY</a:t>
            </a:r>
          </a:p>
          <a:p>
            <a:pPr>
              <a:lnSpc>
                <a:spcPct val="116000"/>
              </a:lnSpc>
              <a:spcAft>
                <a:spcPts val="500"/>
              </a:spcAft>
              <a:defRPr sz="3600" b="0" i="0">
                <a:solidFill>
                  <a:srgbClr val="FFFFFF"/>
                </a:solidFill>
                <a:latin typeface="Open Sans"/>
              </a:defRPr>
            </a:pPr>
            <a:r>
              <a:rPr spc="150"/>
              <a:t>SIDOARJO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877056"/>
            <a:ext cx="56235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600" b="0" i="1">
                <a:solidFill>
                  <a:srgbClr val="FFFFFF"/>
                </a:solidFill>
                <a:latin typeface="Liberation Serif"/>
              </a:defRPr>
            </a:pPr>
            <a:r>
              <a:t>Creating a City for Active Living, Discovery, and Connection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5943600"/>
            <a:ext cx="5303520" cy="7315"/>
          </a:xfrm>
          <a:prstGeom prst="rect">
            <a:avLst/>
          </a:prstGeom>
          <a:solidFill>
            <a:srgbClr val="BB8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236208"/>
            <a:ext cx="5486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0" i="0">
                <a:solidFill>
                  <a:srgbClr val="FFFFFF"/>
                </a:solidFill>
                <a:latin typeface="Liberation Serif"/>
              </a:defRPr>
            </a:pPr>
            <a:r>
              <a:t>Market Understanding, Competitive Landscape &amp; Strategic Direction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7571231"/>
            <a:ext cx="56235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400" b="0" i="0">
                <a:solidFill>
                  <a:srgbClr val="FFFFFF"/>
                </a:solidFill>
                <a:latin typeface="Open Sans"/>
              </a:defRPr>
            </a:pPr>
            <a:r>
              <a:t>Market Understanding &amp; Strategic Positioning Proposal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B8A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FFFFFF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FFFFFF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FFFFFF"/>
                </a:solidFill>
                <a:latin typeface="Open Sans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FFFFFF"/>
                </a:solidFill>
                <a:latin typeface="Open Sans"/>
              </a:defRPr>
            </a:pPr>
            <a:r>
              <a:rPr spc="110"/>
              <a:t>SLIDE 02 — THE BELIEF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743200"/>
            <a:ext cx="1014984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400" b="0" i="1">
                <a:solidFill>
                  <a:srgbClr val="FFFFFF"/>
                </a:solidFill>
                <a:latin typeface="Liberation Serif"/>
              </a:defRPr>
            </a:pPr>
            <a:r>
              <a:t>The true value of a city lies beyond its physical development, in its ability to enrich everyday life, inspire discovery, and foster meaningful connections.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03 — THE STRATEGIC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1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A meaningful destination begins where place, people, and experiences come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4114800"/>
            <a:ext cx="3450336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4334256"/>
            <a:ext cx="345033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230368"/>
            <a:ext cx="3450336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The character, potential, and opportunities of Sidoarjo to create a destination with a distinct sense of place.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39640" y="4114800"/>
            <a:ext cx="3450336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9640" y="4334256"/>
            <a:ext cx="345033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PEOPLE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9640" y="5230368"/>
            <a:ext cx="3450336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The lifestyles, aspirations, and everyday moments that bring people together and give a place meaning.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28888" y="4114800"/>
            <a:ext cx="3450336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28888" y="4334256"/>
            <a:ext cx="345033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EXPERIENCE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8888" y="5230368"/>
            <a:ext cx="3450336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Places to explore, activities to enjoy, and shared experiences that make every visit meaningful.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04 — THE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1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From market understanding to a clear development direction.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063240"/>
            <a:ext cx="1110996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73552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t>01 — Market &amp; Regional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273552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Understand the economic setting and potential demand.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050791"/>
            <a:ext cx="1110996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61104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t>02 — Site &amp; Surrounding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261104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Identify the location’s opportunities and constraints.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5038344"/>
            <a:ext cx="1110996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48656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t>03 — Competitor &amp; Corridor Benchmarking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5248656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Examine how other developments establish relevance.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6025896"/>
            <a:ext cx="1110996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6236208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t>04 — Market Gaps &amp; Opportunities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6236208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Identify needs and opportunities to validate.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7013448"/>
            <a:ext cx="1110996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722376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t>05 — City Positioning &amp; Strategic Direction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7223760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Translate the findings into a clear proposition.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C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FFFFFF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FFFFFF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FFFFFF"/>
                </a:solidFill>
                <a:latin typeface="Open Sans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FFFFFF"/>
                </a:solidFill>
                <a:latin typeface="Open Sans"/>
              </a:defRPr>
            </a:pPr>
            <a:r>
              <a:rPr spc="110"/>
              <a:t>SLIDE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0000" b="0" i="0">
                <a:solidFill>
                  <a:srgbClr val="BB8A27"/>
                </a:solidFill>
                <a:latin typeface="Open Sans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4599432"/>
            <a:ext cx="10881360" cy="7315"/>
          </a:xfrm>
          <a:prstGeom prst="rect">
            <a:avLst/>
          </a:prstGeom>
          <a:solidFill>
            <a:srgbClr val="BB8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5120640"/>
            <a:ext cx="1088136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400" b="0" i="0">
                <a:solidFill>
                  <a:srgbClr val="FFFFFF"/>
                </a:solidFill>
                <a:latin typeface="Open Sans"/>
              </a:defRPr>
            </a:pPr>
            <a:r>
              <a:rPr spc="150"/>
              <a:t>MARKET &amp; REGIONAL OVERVIEW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06 — THE ECONOMIC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1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An Industrial Economy. A City of Growing Possibilities.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834640"/>
            <a:ext cx="11064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Sidoarjo's economic strength is built around a substantial industrial and manufacturing base, creating an important foundation for employment, entrepreneurship, and regional economic activity.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" y="4251960"/>
            <a:ext cx="3395471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4572000"/>
            <a:ext cx="342290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4200" b="0" i="0">
                <a:solidFill>
                  <a:srgbClr val="BB8A27"/>
                </a:solidFill>
                <a:latin typeface="Open Sans"/>
              </a:defRPr>
            </a:pPr>
            <a:r>
              <a:t>5.63%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5550408"/>
            <a:ext cx="33771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  <a:r>
              <a:t>Economic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6309360"/>
            <a:ext cx="3377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2025 · Sidoarjo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93335" y="4251960"/>
            <a:ext cx="3395471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3335" y="4572000"/>
            <a:ext cx="342290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4200" b="0" i="0">
                <a:solidFill>
                  <a:srgbClr val="BB8A27"/>
                </a:solidFill>
                <a:latin typeface="Open Sans"/>
              </a:defRPr>
            </a:pPr>
            <a:r>
              <a:t>49.45%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3335" y="5550408"/>
            <a:ext cx="33771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  <a:r>
              <a:t>Manufacturing Contribution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3335" y="6309360"/>
            <a:ext cx="3377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Share of 2025 regional GDP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36279" y="4251960"/>
            <a:ext cx="3395471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6279" y="4572000"/>
            <a:ext cx="342290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4200" b="0" i="0">
                <a:solidFill>
                  <a:srgbClr val="BB8A27"/>
                </a:solidFill>
                <a:latin typeface="Open Sans"/>
              </a:defRPr>
            </a:pPr>
            <a:r>
              <a:t>Rp319.25T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279" y="5550408"/>
            <a:ext cx="33771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  <a:r>
              <a:t>Regional Economy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6279" y="6309360"/>
            <a:ext cx="3377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2025 GDP, current prices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7223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0" i="0">
                <a:solidFill>
                  <a:srgbClr val="BB8A27"/>
                </a:solidFill>
                <a:latin typeface="Liberation Serif"/>
              </a:defRPr>
            </a:pPr>
            <a:r>
              <a:t>Source: BPS Kabupaten Sidoarjo, Economic Growth 2025.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769924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0" i="1">
                <a:solidFill>
                  <a:srgbClr val="BB8A27"/>
                </a:solidFill>
                <a:latin typeface="Liberation Serif"/>
              </a:defRPr>
            </a:pPr>
            <a:r>
              <a:t>An economy driven by industry creates an opportunity to serve the lives built around it. Sidoarjo's economy provides the foundation. The opportunity lies in creating a city that enriches the lives of the people behind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07 — THE REGIONAL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1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Connected to a Greater Economy. Positioned for a More Complete Way of Life.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761488"/>
            <a:ext cx="11064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Sidoarjo is part of the Greater Surabaya metropolitan ecosystem, connecting industrial activity, employment, commerce, and regional mobility.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" y="4114800"/>
            <a:ext cx="11228832" cy="7315"/>
          </a:xfrm>
          <a:prstGeom prst="rect">
            <a:avLst/>
          </a:prstGeom>
          <a:solidFill>
            <a:srgbClr val="BB8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4242816"/>
            <a:ext cx="408593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Strategic Strength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0644" y="4242816"/>
            <a:ext cx="677713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Key Opportunity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" y="4681728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828032"/>
            <a:ext cx="4058500" cy="905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1" i="0">
                <a:solidFill>
                  <a:srgbClr val="BB8A27"/>
                </a:solidFill>
                <a:latin typeface="Open Sans"/>
              </a:defRPr>
            </a:pPr>
            <a:r>
              <a:t>01 — Metropolitan Connectivity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0644" y="4828032"/>
            <a:ext cx="6749707" cy="905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Access to Surabaya's employment, business, and commercial ecosystem.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" y="5788152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934456"/>
            <a:ext cx="4058500" cy="905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1" i="0">
                <a:solidFill>
                  <a:srgbClr val="BB8A27"/>
                </a:solidFill>
                <a:latin typeface="Open Sans"/>
              </a:defRPr>
            </a:pPr>
            <a:r>
              <a:t>02 — Industrial &amp; Economic Growth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644" y="5934456"/>
            <a:ext cx="6749707" cy="905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An established industrial base supporting professionals, entrepreneurs, and households.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6894576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7040880"/>
            <a:ext cx="4058500" cy="905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1" i="0">
                <a:solidFill>
                  <a:srgbClr val="BB8A27"/>
                </a:solidFill>
                <a:latin typeface="Open Sans"/>
              </a:defRPr>
            </a:pPr>
            <a:r>
              <a:t>03 — Regional Accessibility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0644" y="7040880"/>
            <a:ext cx="6749707" cy="905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Connections to transport infrastructure, services, and lifestyle destinations.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" y="8001000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08 — CONNECTED TO THE INDUSTRY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0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An Established Aviation Gateway Strengthens Sidoarjo's Potential as a Place to Live, Work, and Connect.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4389120"/>
            <a:ext cx="3395471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4709159"/>
            <a:ext cx="342290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4200" b="0" i="0">
                <a:solidFill>
                  <a:srgbClr val="BB8A27"/>
                </a:solidFill>
                <a:latin typeface="Open Sans"/>
              </a:defRPr>
            </a:pPr>
            <a:r>
              <a:t>13.5M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687568"/>
            <a:ext cx="33771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  <a:r>
              <a:t>Annual Passengers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6446520"/>
            <a:ext cx="3377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2025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93335" y="4389120"/>
            <a:ext cx="3395471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3335" y="4709159"/>
            <a:ext cx="342290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4200" b="0" i="0">
                <a:solidFill>
                  <a:srgbClr val="BB8A27"/>
                </a:solidFill>
                <a:latin typeface="Open Sans"/>
              </a:defRPr>
            </a:pPr>
            <a:r>
              <a:t>92K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3335" y="5687568"/>
            <a:ext cx="33771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  <a:r>
              <a:t>Aircraft Movements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3335" y="6446520"/>
            <a:ext cx="3377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2025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6279" y="4389120"/>
            <a:ext cx="3395471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6279" y="4709159"/>
            <a:ext cx="342290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4200" b="0" i="0">
                <a:solidFill>
                  <a:srgbClr val="BB8A27"/>
                </a:solidFill>
                <a:latin typeface="Open Sans"/>
              </a:defRPr>
            </a:pPr>
            <a:r>
              <a:t>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6279" y="5687568"/>
            <a:ext cx="33771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  <a:r>
              <a:t>Air Routes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279" y="6446520"/>
            <a:ext cx="3377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32 domestic, 11 international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09 — UNDERSTANDING THE PEOPLE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1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Beyond Population. Understanding the Lives Behind the Numbers.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761488"/>
            <a:ext cx="11064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Sidoarjo's substantial population and employment-driven economy provide a potential market for different household needs, from first-time homeowners to established families seeking a more complete lifestyle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" y="4297680"/>
            <a:ext cx="3395471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4617720"/>
            <a:ext cx="342290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4200" b="0" i="0">
                <a:solidFill>
                  <a:srgbClr val="BB8A27"/>
                </a:solidFill>
                <a:latin typeface="Open Sans"/>
              </a:defRPr>
            </a:pPr>
            <a:r>
              <a:t>2.04M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5596128"/>
            <a:ext cx="33771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  <a:r>
              <a:t>Residents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6355080"/>
            <a:ext cx="3377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2025 registration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93335" y="4297680"/>
            <a:ext cx="3395471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3335" y="4617720"/>
            <a:ext cx="342290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4200" b="0" i="0">
                <a:solidFill>
                  <a:srgbClr val="BB8A27"/>
                </a:solidFill>
                <a:latin typeface="Open Sans"/>
              </a:defRPr>
            </a:pPr>
            <a:r>
              <a:t>~68%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3335" y="5596128"/>
            <a:ext cx="33771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  <a:r>
              <a:t>Working-age population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3335" y="6355080"/>
            <a:ext cx="3377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Ages 15–59, Dec 2025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36279" y="4297680"/>
            <a:ext cx="3395471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6279" y="4617720"/>
            <a:ext cx="342290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4200" b="0" i="0">
                <a:solidFill>
                  <a:srgbClr val="BB8A27"/>
                </a:solidFill>
                <a:latin typeface="Open Sans"/>
              </a:defRPr>
            </a:pPr>
            <a:r>
              <a:t>49.45%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279" y="5596128"/>
            <a:ext cx="33771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  <a:r>
              <a:t>Manufacturing contribution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6279" y="6355080"/>
            <a:ext cx="3377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2025 regional GDP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09 — UNDERSTANDING THE PEOPLE · CONTINUED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1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Four Potential Audience Segments: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3246120"/>
            <a:ext cx="5394959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3465576"/>
            <a:ext cx="539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01 — Family &amp; Living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4361688"/>
            <a:ext cx="539495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Homes and environments that support different generations and stages of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84263" y="3246120"/>
            <a:ext cx="5394959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84263" y="3465576"/>
            <a:ext cx="539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02 — Work &amp; Opportunity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4263" y="4361688"/>
            <a:ext cx="539495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Convenience and connectivity that complement professional and business routines.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" y="5532120"/>
            <a:ext cx="5394959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751576"/>
            <a:ext cx="539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03 — Lifestyle &amp;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6647688"/>
            <a:ext cx="539495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More choices for recreation, dining, exploration, and everyday enjoyment.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84263" y="5532120"/>
            <a:ext cx="5394959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84263" y="5751576"/>
            <a:ext cx="539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04 — Connection &amp; Belonging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4263" y="6647688"/>
            <a:ext cx="539495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Shared spaces and experiences that encourage meaningful social interaction.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10 — THE EXISTING TOWNSHIP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9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A Growing Residential Market. An Opportunity to Redefine Everyday Living.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3108960"/>
            <a:ext cx="11228832" cy="7315"/>
          </a:xfrm>
          <a:prstGeom prst="rect">
            <a:avLst/>
          </a:prstGeom>
          <a:solidFill>
            <a:srgbClr val="BB8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3236976"/>
            <a:ext cx="182552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Market Dimension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50240" y="3236976"/>
            <a:ext cx="4107811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Existing Condition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932" y="3236976"/>
            <a:ext cx="4746851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Opportunity for Tanrise City Sidoarjo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" y="3675887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822191"/>
            <a:ext cx="1798096" cy="6912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  <a:r>
              <a:t>Housing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0240" y="3822191"/>
            <a:ext cx="4080379" cy="6912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0" i="0">
                <a:solidFill>
                  <a:srgbClr val="BB8A27"/>
                </a:solidFill>
                <a:latin typeface="Liberation Serif"/>
              </a:defRPr>
            </a:pPr>
            <a:r>
              <a:t>Established cluster-based residential developments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0932" y="3822191"/>
            <a:ext cx="4719419" cy="6912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0" i="0">
                <a:solidFill>
                  <a:srgbClr val="BB8A27"/>
                </a:solidFill>
                <a:latin typeface="Liberation Serif"/>
              </a:defRPr>
            </a:pPr>
            <a:r>
              <a:t>More diverse residential choices across household life stages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" y="4568342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4714646"/>
            <a:ext cx="1798096" cy="6912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  <a:r>
              <a:t>Lifestyle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0240" y="4714646"/>
            <a:ext cx="4080379" cy="6912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0" i="0">
                <a:solidFill>
                  <a:srgbClr val="BB8A27"/>
                </a:solidFill>
                <a:latin typeface="Liberation Serif"/>
              </a:defRPr>
            </a:pPr>
            <a:r>
              <a:t>Amenities concentrated in existing townships and commercial areas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40932" y="4714646"/>
            <a:ext cx="4719419" cy="6912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0" i="0">
                <a:solidFill>
                  <a:srgbClr val="BB8A27"/>
                </a:solidFill>
                <a:latin typeface="Liberation Serif"/>
              </a:defRPr>
            </a:pPr>
            <a:r>
              <a:t>A connected collection of lifestyle and leisure destinations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" y="5460796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5607100"/>
            <a:ext cx="1798096" cy="6912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  <a:r>
              <a:t>Community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50240" y="5607100"/>
            <a:ext cx="4080379" cy="6912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0" i="0">
                <a:solidFill>
                  <a:srgbClr val="BB8A27"/>
                </a:solidFill>
                <a:latin typeface="Liberation Serif"/>
              </a:defRPr>
            </a:pPr>
            <a:r>
              <a:t>Residential neighborhoods with private shared facilities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40932" y="5607100"/>
            <a:ext cx="4719419" cy="6912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0" i="0">
                <a:solidFill>
                  <a:srgbClr val="BB8A27"/>
                </a:solidFill>
                <a:latin typeface="Liberation Serif"/>
              </a:defRPr>
            </a:pPr>
            <a:r>
              <a:t>Inclusive gathering spaces and recurring community activities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" y="6353251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6499555"/>
            <a:ext cx="1798096" cy="6912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  <a:r>
              <a:t>Green Environment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50240" y="6499555"/>
            <a:ext cx="4080379" cy="6912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0" i="0">
                <a:solidFill>
                  <a:srgbClr val="BB8A27"/>
                </a:solidFill>
                <a:latin typeface="Liberation Serif"/>
              </a:defRPr>
            </a:pPr>
            <a:r>
              <a:t>Greenery is already a common township proposition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40932" y="6499555"/>
            <a:ext cx="4719419" cy="6912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0" i="0">
                <a:solidFill>
                  <a:srgbClr val="BB8A27"/>
                </a:solidFill>
                <a:latin typeface="Liberation Serif"/>
              </a:defRPr>
            </a:pPr>
            <a:r>
              <a:t>Make connected landscapes and active outdoor experiences central to daily life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" y="7245705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7392009"/>
            <a:ext cx="1798096" cy="6912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  <a:r>
              <a:t>Commercial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50240" y="7392009"/>
            <a:ext cx="4080379" cy="6912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0" i="0">
                <a:solidFill>
                  <a:srgbClr val="BB8A27"/>
                </a:solidFill>
                <a:latin typeface="Liberation Serif"/>
              </a:defRPr>
            </a:pPr>
            <a:r>
              <a:t>Retail and food-and-beverage activity distributed across urban corridors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932" y="7392009"/>
            <a:ext cx="4719419" cy="6912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0" i="0">
                <a:solidFill>
                  <a:srgbClr val="BB8A27"/>
                </a:solidFill>
                <a:latin typeface="Liberation Serif"/>
              </a:defRPr>
            </a:pPr>
            <a:r>
              <a:t>A complementary commercial ecosystem designed around everyday use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0392" y="8138160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10 — THE EXISTING TOWNSHIP LANDSCAPE · CONTINUED</a:t>
            </a:r>
          </a:p>
        </p:txBody>
      </p:sp>
      <p:pic>
        <p:nvPicPr>
          <p:cNvPr id="6" name="Picture 5" descr="source_p5_im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773936"/>
            <a:ext cx="10789920" cy="64610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C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FFFFFF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FFFFFF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FFFFFF"/>
                </a:solidFill>
                <a:latin typeface="Open Sans"/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FFFFFF"/>
                </a:solidFill>
                <a:latin typeface="Open Sans"/>
              </a:defRPr>
            </a:pPr>
            <a:r>
              <a:rPr spc="110"/>
              <a:t>SLIDE 11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743200"/>
            <a:ext cx="1014984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400" b="0" i="1">
                <a:solidFill>
                  <a:srgbClr val="FFFFFF"/>
                </a:solidFill>
                <a:latin typeface="Liberation Serif"/>
              </a:defRPr>
            </a:pPr>
            <a:r>
              <a:t>Different lives. Different aspirations. One shared desire for a place where life has more to offer.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C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FFFFFF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FFFFFF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FFFFFF"/>
                </a:solidFill>
                <a:latin typeface="Open Sans"/>
              </a:defRPr>
            </a:pPr>
            <a: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FFFFFF"/>
                </a:solidFill>
                <a:latin typeface="Open Sans"/>
              </a:defRPr>
            </a:pPr>
            <a:r>
              <a:rPr spc="110"/>
              <a:t>SLIDE 12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0000" b="0" i="0">
                <a:solidFill>
                  <a:srgbClr val="BB8A27"/>
                </a:solidFill>
                <a:latin typeface="Open Sans"/>
              </a:defRPr>
            </a:pPr>
            <a: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4599432"/>
            <a:ext cx="10881360" cy="7315"/>
          </a:xfrm>
          <a:prstGeom prst="rect">
            <a:avLst/>
          </a:prstGeom>
          <a:solidFill>
            <a:srgbClr val="BB8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5120640"/>
            <a:ext cx="1088136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400" b="0" i="0">
                <a:solidFill>
                  <a:srgbClr val="FFFFFF"/>
                </a:solidFill>
                <a:latin typeface="Open Sans"/>
              </a:defRPr>
            </a:pPr>
            <a:r>
              <a:rPr spc="150"/>
              <a:t>SITE &amp; SURROUNDING REVIEW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13 — SITE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6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TANRISE CITY SIDOARJO  |  SUNRISE RESIDENCE</a:t>
            </a:r>
          </a:p>
        </p:txBody>
      </p:sp>
      <p:pic>
        <p:nvPicPr>
          <p:cNvPr id="7" name="Picture 6" descr="source_p6_im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2606040"/>
            <a:ext cx="8435340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14 — ACCESSIBILITY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1755648"/>
            <a:ext cx="110642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Sunrise Residence Sidoarjo occupies a strategic planning position within an established working urban environment, where industrial facilities, existing neighborhoods, and undeveloped land coexist.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3337560"/>
            <a:ext cx="11228832" cy="7315"/>
          </a:xfrm>
          <a:prstGeom prst="rect">
            <a:avLst/>
          </a:prstGeom>
          <a:solidFill>
            <a:srgbClr val="BB8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3465576"/>
            <a:ext cx="128374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Direction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08454" y="3465576"/>
            <a:ext cx="4629476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Existing surroundings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0811" y="3465576"/>
            <a:ext cx="476697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Planning implication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" y="3904487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050791"/>
            <a:ext cx="1256310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800" b="1" i="0">
                <a:solidFill>
                  <a:srgbClr val="BB8A27"/>
                </a:solidFill>
                <a:latin typeface="Open Sans"/>
              </a:defRPr>
            </a:pPr>
            <a:r>
              <a:t>West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8454" y="4050791"/>
            <a:ext cx="4602044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Jalan Lingkar Timur and established neighborhood buildings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0811" y="4050791"/>
            <a:ext cx="4739540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Main road frontage and potential access visibility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" y="4928616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5074920"/>
            <a:ext cx="1256310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800" b="1" i="0">
                <a:solidFill>
                  <a:srgbClr val="BB8A27"/>
                </a:solidFill>
                <a:latin typeface="Open Sans"/>
              </a:defRPr>
            </a:pPr>
            <a:r>
              <a:t>West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08454" y="5074920"/>
            <a:ext cx="4602044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Industrial buildings and warehousing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0811" y="5074920"/>
            <a:ext cx="4739540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Need to consider noise, servicing, and land-use buffers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" y="5952744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6099048"/>
            <a:ext cx="1256310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800" b="1" i="0">
                <a:solidFill>
                  <a:srgbClr val="BB8A27"/>
                </a:solidFill>
                <a:latin typeface="Open Sans"/>
              </a:defRPr>
            </a:pPr>
            <a:r>
              <a:t>East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8454" y="6099048"/>
            <a:ext cx="4602044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Agricultural land and open areas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0811" y="6099048"/>
            <a:ext cx="4739540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Opportunity for open landscape views, subject to future development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" y="6976871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7123175"/>
            <a:ext cx="1256310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800" b="1" i="0">
                <a:solidFill>
                  <a:srgbClr val="BB8A27"/>
                </a:solidFill>
                <a:latin typeface="Open Sans"/>
              </a:defRPr>
            </a:pPr>
            <a:r>
              <a:t>South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08454" y="7123175"/>
            <a:ext cx="4602044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Mixed vacant land, buildings, and vegetation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0811" y="7123175"/>
            <a:ext cx="4739540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Boundary treatment and future adjacent development need review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" y="8001000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15 — THE SURROUNDING 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1691640"/>
            <a:ext cx="11064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The industrial ecosystem is one of the clearest verified characteristics of this location. Three relevant developments along the Lingkar Timur corridor are:</a:t>
            </a:r>
          </a:p>
        </p:txBody>
      </p:sp>
      <p:pic>
        <p:nvPicPr>
          <p:cNvPr id="7" name="Picture 6" descr="source_p7_im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0"/>
            <a:ext cx="10652760" cy="603389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16 — SITE READINESS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" y="1965960"/>
            <a:ext cx="11228832" cy="7315"/>
          </a:xfrm>
          <a:prstGeom prst="rect">
            <a:avLst/>
          </a:prstGeom>
          <a:solidFill>
            <a:srgbClr val="BB8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093976"/>
            <a:ext cx="197122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5934" y="2093976"/>
            <a:ext cx="394199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0811" y="2093976"/>
            <a:ext cx="476697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Implication for Tanrise City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" y="2532888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679192"/>
            <a:ext cx="1943790" cy="910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800" b="1" i="0">
                <a:solidFill>
                  <a:srgbClr val="BB8A27"/>
                </a:solidFill>
                <a:latin typeface="Open Sans"/>
              </a:defRPr>
            </a:pPr>
            <a:r>
              <a:t>Industrial Activity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5934" y="2679192"/>
            <a:ext cx="3914565" cy="910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Strong existing industrial and logistics presence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0811" y="2679192"/>
            <a:ext cx="4739540" cy="910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Potential employment-linked market, but greater attention to residential comfort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" y="3644798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791102"/>
            <a:ext cx="1943790" cy="910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800" b="1" i="0">
                <a:solidFill>
                  <a:srgbClr val="BB8A27"/>
                </a:solidFill>
                <a:latin typeface="Open Sans"/>
              </a:defRPr>
            </a:pPr>
            <a:r>
              <a:t>Existing Housing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95934" y="3791102"/>
            <a:ext cx="3914565" cy="910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Established neighborhoods west of the road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0811" y="3791102"/>
            <a:ext cx="4739540" cy="910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Opportunity to complement the existing residential environment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4756708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903012"/>
            <a:ext cx="1943790" cy="910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800" b="1" i="0">
                <a:solidFill>
                  <a:srgbClr val="BB8A27"/>
                </a:solidFill>
                <a:latin typeface="Open Sans"/>
              </a:defRPr>
            </a:pPr>
            <a:r>
              <a:t>Land Character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934" y="4903012"/>
            <a:ext cx="3914565" cy="910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Open agricultural parcels remain near the site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0811" y="4903012"/>
            <a:ext cx="4739540" cy="910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Opportunity for landscape-led planning; surrounding land-use changes remain uncertain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0392" y="5868619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6014923"/>
            <a:ext cx="1943790" cy="910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800" b="1" i="0">
                <a:solidFill>
                  <a:srgbClr val="BB8A27"/>
                </a:solidFill>
                <a:latin typeface="Open Sans"/>
              </a:defRPr>
            </a:pPr>
            <a:r>
              <a:t>Daily Services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95934" y="6014923"/>
            <a:ext cx="3914565" cy="910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Schools and basic retail exist along the corridor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0811" y="6014923"/>
            <a:ext cx="4739540" cy="910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Integrated daily conveniences could support residents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0392" y="6980529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7126833"/>
            <a:ext cx="1943790" cy="910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800" b="1" i="0">
                <a:solidFill>
                  <a:srgbClr val="BB8A27"/>
                </a:solidFill>
                <a:latin typeface="Open Sans"/>
              </a:defRPr>
            </a:pPr>
            <a:r>
              <a:t>Lifestyle Destinations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95934" y="7126833"/>
            <a:ext cx="3914565" cy="910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Major shopping and recreation destinations exist across Sidoarjo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0811" y="7126833"/>
            <a:ext cx="4739540" cy="9107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Potential to differentiate through more distinctive and accessible activities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" y="8092440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17 — DESIGN 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1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Comfort, practicality, and a welcoming character.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788920"/>
            <a:ext cx="11064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The supplied architecture and clubhouse materials provide useful reference principles: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749039"/>
            <a:ext cx="1115568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950207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● Contemporary forms with clear, simple detailing.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526279"/>
            <a:ext cx="1115568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727447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● Natural lighting and ventilation.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5303520"/>
            <a:ext cx="1115568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504688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● Practical layouts that balance comfort and privacy.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6080759"/>
            <a:ext cx="1115568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6281927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● Warm tropical materials and architectural accents.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6858000"/>
            <a:ext cx="1115568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7059168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● Shared spaces with an approachable, hospitality-inspired atmosphere.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C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FFFFFF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FFFFFF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FFFFFF"/>
                </a:solidFill>
                <a:latin typeface="Open Sans"/>
              </a:defRPr>
            </a:pPr>
            <a: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FFFFFF"/>
                </a:solidFill>
                <a:latin typeface="Open Sans"/>
              </a:defRPr>
            </a:pPr>
            <a:r>
              <a:rPr spc="110"/>
              <a:t>SLIDE 18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0000" b="0" i="0">
                <a:solidFill>
                  <a:srgbClr val="BB8A27"/>
                </a:solidFill>
                <a:latin typeface="Open Sans"/>
              </a:defRPr>
            </a:pPr>
            <a: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4599432"/>
            <a:ext cx="10881360" cy="7315"/>
          </a:xfrm>
          <a:prstGeom prst="rect">
            <a:avLst/>
          </a:prstGeom>
          <a:solidFill>
            <a:srgbClr val="BB8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5120640"/>
            <a:ext cx="1088136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400" b="0" i="0">
                <a:solidFill>
                  <a:srgbClr val="FFFFFF"/>
                </a:solidFill>
                <a:latin typeface="Open Sans"/>
              </a:defRPr>
            </a:pPr>
            <a:r>
              <a:rPr spc="150"/>
              <a:t>COMPETITOR &amp; CORRIDOR</a:t>
            </a:r>
          </a:p>
          <a:p>
            <a:pPr>
              <a:lnSpc>
                <a:spcPct val="116000"/>
              </a:lnSpc>
              <a:spcAft>
                <a:spcPts val="500"/>
              </a:spcAft>
              <a:defRPr sz="3400" b="0" i="0">
                <a:solidFill>
                  <a:srgbClr val="FFFFFF"/>
                </a:solidFill>
                <a:latin typeface="Open Sans"/>
              </a:defRPr>
            </a:pPr>
            <a:r>
              <a:rPr spc="150"/>
              <a:t>BENCHMARKING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19 — BENCHMARKING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9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Five Developers. Five Different Approaches to Township Development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770632"/>
            <a:ext cx="11064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Greater Surabaya's property market is shaped by established developers competing through master-planned communities, residential accessibility, commercial destinations, and lifestyle integration.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" y="3977639"/>
            <a:ext cx="11228832" cy="7315"/>
          </a:xfrm>
          <a:prstGeom prst="rect">
            <a:avLst/>
          </a:prstGeom>
          <a:solidFill>
            <a:srgbClr val="BB8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4105655"/>
            <a:ext cx="1642946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Developer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7658" y="4105655"/>
            <a:ext cx="3377481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Flagship developments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8019" y="4105655"/>
            <a:ext cx="24645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Primary corridors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5467" y="4105655"/>
            <a:ext cx="3012316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Core 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" y="4544568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4690872"/>
            <a:ext cx="1615514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500" b="1" i="0">
                <a:solidFill>
                  <a:srgbClr val="BB8A27"/>
                </a:solidFill>
                <a:latin typeface="Open Sans"/>
              </a:defRPr>
            </a:pPr>
            <a:r>
              <a:t>Ciputra Group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7658" y="4690872"/>
            <a:ext cx="3350049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CitraLand Surabaya, CitraHarmoni, CitraGarden Sidoarjo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8019" y="4690872"/>
            <a:ext cx="2437136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West Surabaya, Taman, Buduran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5467" y="4690872"/>
            <a:ext cx="2984884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Integrated townships and master planning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5281574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5427878"/>
            <a:ext cx="1615514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500" b="1" i="0">
                <a:solidFill>
                  <a:srgbClr val="BB8A27"/>
                </a:solidFill>
                <a:latin typeface="Open Sans"/>
              </a:defRPr>
            </a:pPr>
            <a:r>
              <a:t>Pakuwon Group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67658" y="5427878"/>
            <a:ext cx="3350049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Pakuwon City, Grand Pakuwon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8019" y="5427878"/>
            <a:ext cx="2437136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East &amp; West Surabaya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5467" y="5427878"/>
            <a:ext cx="2984884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Commercial anchors and destination development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" y="6018580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6164884"/>
            <a:ext cx="1615514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500" b="1" i="0">
                <a:solidFill>
                  <a:srgbClr val="BB8A27"/>
                </a:solidFill>
                <a:latin typeface="Open Sans"/>
              </a:defRPr>
            </a:pPr>
            <a:r>
              <a:t>Bakrieland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7658" y="6164884"/>
            <a:ext cx="3350049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Kahuripan Nirwana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8019" y="6164884"/>
            <a:ext cx="2437136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Central Sidoarjo, Buduran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5467" y="6164884"/>
            <a:ext cx="2984884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Sidoarjo township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" y="6755587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6901891"/>
            <a:ext cx="1615514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500" b="1" i="0">
                <a:solidFill>
                  <a:srgbClr val="BB8A27"/>
                </a:solidFill>
                <a:latin typeface="Open Sans"/>
              </a:defRPr>
            </a:pPr>
            <a:r>
              <a:t>Jaya Land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67658" y="6901891"/>
            <a:ext cx="3350049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Puri Surya Jaya, Grand Surya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8019" y="6901891"/>
            <a:ext cx="2437136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Gedangan, North Sidoarjo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75467" y="6901891"/>
            <a:ext cx="2984884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Established local housing market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" y="7492593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" y="7638897"/>
            <a:ext cx="1615514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500" b="1" i="0">
                <a:solidFill>
                  <a:srgbClr val="BB8A27"/>
                </a:solidFill>
                <a:latin typeface="Open Sans"/>
              </a:defRPr>
            </a:pPr>
            <a:r>
              <a:t>Intiland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67658" y="7638897"/>
            <a:ext cx="3350049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Graha Natura, Amesta Living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8019" y="7638897"/>
            <a:ext cx="2437136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West &amp; East Surabaya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75467" y="7638897"/>
            <a:ext cx="2984884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Nature-led and lifestyle-oriented living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0392" y="8229600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19 — BENCHMARKING FRAMEWORK ·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" y="2011680"/>
            <a:ext cx="11228832" cy="7315"/>
          </a:xfrm>
          <a:prstGeom prst="rect">
            <a:avLst/>
          </a:prstGeom>
          <a:solidFill>
            <a:srgbClr val="BB8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139696"/>
            <a:ext cx="1642946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Developer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7658" y="2139696"/>
            <a:ext cx="4746851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Development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7389" y="2139696"/>
            <a:ext cx="4290394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Strategic lesson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" y="2578608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724912"/>
            <a:ext cx="1615514" cy="901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1" i="0">
                <a:solidFill>
                  <a:srgbClr val="BB8A27"/>
                </a:solidFill>
                <a:latin typeface="Open Sans"/>
              </a:defRPr>
            </a:pPr>
            <a:r>
              <a:t>Ciputra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7658" y="2724912"/>
            <a:ext cx="4719419" cy="901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Long-term master planning with residential, education, and commercial components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97389" y="2724912"/>
            <a:ext cx="4262962" cy="901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Integrated planning creates a recognizable township identity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" y="3681374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7678"/>
            <a:ext cx="1615514" cy="901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1" i="0">
                <a:solidFill>
                  <a:srgbClr val="BB8A27"/>
                </a:solidFill>
                <a:latin typeface="Open Sans"/>
              </a:defRPr>
            </a:pPr>
            <a:r>
              <a:t>Pakuwon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7658" y="3827678"/>
            <a:ext cx="4719419" cy="901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Residential development supported by substantial commercial destinations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7389" y="3827678"/>
            <a:ext cx="4262962" cy="901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Attractions can strengthen repeat visitation and recurring income.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4784140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930444"/>
            <a:ext cx="1615514" cy="901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1" i="0">
                <a:solidFill>
                  <a:srgbClr val="BB8A27"/>
                </a:solidFill>
                <a:latin typeface="Open Sans"/>
              </a:defRPr>
            </a:pPr>
            <a:r>
              <a:t>Bakrieland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67658" y="4930444"/>
            <a:ext cx="4719419" cy="901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Residential and mixed-use development within a local township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97389" y="4930444"/>
            <a:ext cx="4262962" cy="901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Local market relevance and supporting infrastructure matter.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0392" y="5886907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6033211"/>
            <a:ext cx="1615514" cy="901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1" i="0">
                <a:solidFill>
                  <a:srgbClr val="BB8A27"/>
                </a:solidFill>
                <a:latin typeface="Open Sans"/>
              </a:defRPr>
            </a:pPr>
            <a:r>
              <a:t>Jaya Land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67658" y="6033211"/>
            <a:ext cx="4719419" cy="901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Residential clusters positioned around established housing needs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97389" y="6033211"/>
            <a:ext cx="4262962" cy="901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Product affordability and practical value remain fundamental.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0392" y="6989673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7135977"/>
            <a:ext cx="1615514" cy="901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1" i="0">
                <a:solidFill>
                  <a:srgbClr val="BB8A27"/>
                </a:solidFill>
                <a:latin typeface="Open Sans"/>
              </a:defRPr>
            </a:pPr>
            <a:r>
              <a:t>Intiland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7658" y="7135977"/>
            <a:ext cx="4719419" cy="901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Landscape, architecture, nature, and lifestyle-oriented 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97389" y="7135977"/>
            <a:ext cx="4262962" cy="901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Experience and environmental quality can differentiate homes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" y="8092440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19 — BENCHMARKING FRAMEWORK ·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" y="2148840"/>
            <a:ext cx="11228832" cy="7315"/>
          </a:xfrm>
          <a:prstGeom prst="rect">
            <a:avLst/>
          </a:prstGeom>
          <a:solidFill>
            <a:srgbClr val="BB8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276856"/>
            <a:ext cx="4381685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Developer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06397" y="2276856"/>
            <a:ext cx="3742646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Revenue FY2025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31924" y="2276856"/>
            <a:ext cx="255585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YoY growth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" y="2715768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862072"/>
            <a:ext cx="4354253" cy="664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300" b="1" i="0">
                <a:solidFill>
                  <a:srgbClr val="BB8A27"/>
                </a:solidFill>
                <a:latin typeface="Open Sans"/>
              </a:defRPr>
            </a:pPr>
            <a:r>
              <a:t>Ciputra (CTRA)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06397" y="2862072"/>
            <a:ext cx="3715214" cy="664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400" b="0" i="0">
                <a:solidFill>
                  <a:srgbClr val="BB8A27"/>
                </a:solidFill>
                <a:latin typeface="Liberation Serif"/>
              </a:defRPr>
            </a:pPr>
            <a:r>
              <a:t>Rp12.62T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31924" y="2862072"/>
            <a:ext cx="2528427" cy="664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400" b="0" i="0">
                <a:solidFill>
                  <a:srgbClr val="BB8A27"/>
                </a:solidFill>
                <a:latin typeface="Liberation Serif"/>
              </a:defRPr>
            </a:pPr>
            <a:r>
              <a:t>+12.8%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" y="3581400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727704"/>
            <a:ext cx="4354253" cy="664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300" b="1" i="0">
                <a:solidFill>
                  <a:srgbClr val="BB8A27"/>
                </a:solidFill>
                <a:latin typeface="Open Sans"/>
              </a:defRPr>
            </a:pPr>
            <a:r>
              <a:t>Pakuwon (PWON)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6397" y="3727704"/>
            <a:ext cx="3715214" cy="664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400" b="0" i="0">
                <a:solidFill>
                  <a:srgbClr val="BB8A27"/>
                </a:solidFill>
                <a:latin typeface="Liberation Serif"/>
              </a:defRPr>
            </a:pPr>
            <a:r>
              <a:t>Rp7.11T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1924" y="3727704"/>
            <a:ext cx="2528427" cy="664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400" b="0" i="0">
                <a:solidFill>
                  <a:srgbClr val="BB8A27"/>
                </a:solidFill>
                <a:latin typeface="Liberation Serif"/>
              </a:defRPr>
            </a:pPr>
            <a:r>
              <a:t>+6.6%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4447032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593336"/>
            <a:ext cx="4354253" cy="664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300" b="1" i="0">
                <a:solidFill>
                  <a:srgbClr val="BB8A27"/>
                </a:solidFill>
                <a:latin typeface="Open Sans"/>
              </a:defRPr>
            </a:pPr>
            <a:r>
              <a:t>Intiland (DILD)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06397" y="4593336"/>
            <a:ext cx="3715214" cy="664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400" b="0" i="0">
                <a:solidFill>
                  <a:srgbClr val="BB8A27"/>
                </a:solidFill>
                <a:latin typeface="Liberation Serif"/>
              </a:defRPr>
            </a:pPr>
            <a:r>
              <a:t>Rp2.46T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31924" y="4593336"/>
            <a:ext cx="2528427" cy="664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400" b="0" i="0">
                <a:solidFill>
                  <a:srgbClr val="BB8A27"/>
                </a:solidFill>
                <a:latin typeface="Liberation Serif"/>
              </a:defRPr>
            </a:pPr>
            <a:r>
              <a:t>−3.6%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0392" y="5312664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5458968"/>
            <a:ext cx="4354253" cy="664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300" b="1" i="0">
                <a:solidFill>
                  <a:srgbClr val="BB8A27"/>
                </a:solidFill>
                <a:latin typeface="Open Sans"/>
              </a:defRPr>
            </a:pPr>
            <a:r>
              <a:t>Bakrieland (ELTY)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6397" y="5458968"/>
            <a:ext cx="3715214" cy="664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400" b="0" i="0">
                <a:solidFill>
                  <a:srgbClr val="BB8A27"/>
                </a:solidFill>
                <a:latin typeface="Liberation Serif"/>
              </a:defRPr>
            </a:pPr>
            <a:r>
              <a:t>Rp1.43T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31924" y="5458968"/>
            <a:ext cx="2528427" cy="664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400" b="0" i="0">
                <a:solidFill>
                  <a:srgbClr val="BB8A27"/>
                </a:solidFill>
                <a:latin typeface="Liberation Serif"/>
              </a:defRPr>
            </a:pPr>
            <a:r>
              <a:t>+16.2%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0392" y="6178296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6324600"/>
            <a:ext cx="4354253" cy="664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300" b="1" i="0">
                <a:solidFill>
                  <a:srgbClr val="BB8A27"/>
                </a:solidFill>
                <a:latin typeface="Open Sans"/>
              </a:defRPr>
            </a:pPr>
            <a:r>
              <a:t>Jaya Land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06397" y="6324600"/>
            <a:ext cx="3715214" cy="664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400" b="0" i="0">
                <a:solidFill>
                  <a:srgbClr val="BB8A27"/>
                </a:solidFill>
                <a:latin typeface="Liberation Serif"/>
              </a:defRPr>
            </a:pPr>
            <a:r>
              <a:t>Not disclosed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31924" y="6324600"/>
            <a:ext cx="2528427" cy="664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400" b="0" i="0">
                <a:solidFill>
                  <a:srgbClr val="BB8A27"/>
                </a:solidFill>
                <a:latin typeface="Liberation Serif"/>
              </a:defRPr>
            </a:pPr>
            <a: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" y="7043928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7190232"/>
            <a:ext cx="4354253" cy="664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300" b="1" i="0">
                <a:solidFill>
                  <a:srgbClr val="BB8A27"/>
                </a:solidFill>
                <a:latin typeface="Open Sans"/>
              </a:defRPr>
            </a:pPr>
            <a:r>
              <a:t>Tanrise (RISE)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06397" y="7190232"/>
            <a:ext cx="3715214" cy="664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400" b="0" i="0">
                <a:solidFill>
                  <a:srgbClr val="BB8A27"/>
                </a:solidFill>
                <a:latin typeface="Liberation Serif"/>
              </a:defRPr>
            </a:pPr>
            <a:r>
              <a:t>Rp410.7B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31924" y="7190232"/>
            <a:ext cx="2528427" cy="664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400" b="0" i="0">
                <a:solidFill>
                  <a:srgbClr val="BB8A27"/>
                </a:solidFill>
                <a:latin typeface="Liberation Serif"/>
              </a:defRPr>
            </a:pPr>
            <a:r>
              <a:t>+12.3%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0392" y="7909560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20 — CIPUTRA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0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A Great Township Grows Beyond Its Homes.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260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400" b="1" i="0">
                <a:solidFill>
                  <a:srgbClr val="BB8A27"/>
                </a:solidFill>
                <a:latin typeface="Open Sans"/>
              </a:defRPr>
            </a:pPr>
            <a:r>
              <a:t>Key Developments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38728"/>
            <a:ext cx="40233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100" b="0" i="0">
                <a:solidFill>
                  <a:srgbClr val="BB8A27"/>
                </a:solidFill>
                <a:latin typeface="Liberation Serif"/>
              </a:defRPr>
            </a:pPr>
            <a:r>
              <a:t>CitraLand Surabaya, CitraHarmoni, CitraGarden Sidoarjo.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2926080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400" b="1" i="0">
                <a:solidFill>
                  <a:srgbClr val="BB8A27"/>
                </a:solidFill>
                <a:latin typeface="Open Sans"/>
              </a:defRPr>
            </a:pPr>
            <a:r>
              <a:t>Competitive Strength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3538728"/>
            <a:ext cx="621792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100" b="0" i="0">
                <a:solidFill>
                  <a:srgbClr val="BB8A27"/>
                </a:solidFill>
                <a:latin typeface="Liberation Serif"/>
              </a:defRPr>
            </a:pPr>
            <a:r>
              <a:t>Ciputra builds long-term township value by integrating residential communities with commercial destinations, educational facilities, and supporting infrastructure.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" y="5577840"/>
            <a:ext cx="5266944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5897879"/>
            <a:ext cx="529437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4200" b="0" i="0">
                <a:solidFill>
                  <a:srgbClr val="BB8A27"/>
                </a:solidFill>
                <a:latin typeface="Open Sans"/>
              </a:defRPr>
            </a:pPr>
            <a:r>
              <a:t>Rp12.62T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6876288"/>
            <a:ext cx="524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  <a:r>
              <a:t>FY2025 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7635240"/>
            <a:ext cx="524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64807" y="5577840"/>
            <a:ext cx="5266944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7" y="5897879"/>
            <a:ext cx="529437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4200" b="0" i="0">
                <a:solidFill>
                  <a:srgbClr val="BB8A27"/>
                </a:solidFill>
                <a:latin typeface="Open Sans"/>
              </a:defRPr>
            </a:pPr>
            <a:r>
              <a:t>Rp9.46T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7" y="6876288"/>
            <a:ext cx="524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  <a:r>
              <a:t>FY2025 marketing sales, −14% YoY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7" y="7635240"/>
            <a:ext cx="524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21 — PAKUWON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0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Creating Destinations That Give People Reasons to Return.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260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400" b="1" i="0">
                <a:solidFill>
                  <a:srgbClr val="BB8A27"/>
                </a:solidFill>
                <a:latin typeface="Open Sans"/>
              </a:defRPr>
            </a:pPr>
            <a:r>
              <a:t>Key Developments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38728"/>
            <a:ext cx="40233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100" b="0" i="0">
                <a:solidFill>
                  <a:srgbClr val="BB8A27"/>
                </a:solidFill>
                <a:latin typeface="Liberation Serif"/>
              </a:defRPr>
            </a:pPr>
            <a:r>
              <a:t>Pakuwon City, Grand Pakuwon, Pakuwon City Mall.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2926080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400" b="1" i="0">
                <a:solidFill>
                  <a:srgbClr val="BB8A27"/>
                </a:solidFill>
                <a:latin typeface="Open Sans"/>
              </a:defRPr>
            </a:pPr>
            <a:r>
              <a:t>Competitive Strength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3538728"/>
            <a:ext cx="621792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100" b="0" i="0">
                <a:solidFill>
                  <a:srgbClr val="BB8A27"/>
                </a:solidFill>
                <a:latin typeface="Liberation Serif"/>
              </a:defRPr>
            </a:pPr>
            <a:r>
              <a:t>Pakuwon integrates residential communities with established retail, dining, entertainment, and hospitality destinations, supported by a substantial recurring-income portfolio.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" y="5577840"/>
            <a:ext cx="5266944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5897879"/>
            <a:ext cx="529437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4200" b="0" i="0">
                <a:solidFill>
                  <a:srgbClr val="BB8A27"/>
                </a:solidFill>
                <a:latin typeface="Open Sans"/>
              </a:defRPr>
            </a:pPr>
            <a:r>
              <a:t>Rp7.11T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6876288"/>
            <a:ext cx="524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  <a:r>
              <a:t>FY2025 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7635240"/>
            <a:ext cx="524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64807" y="5577840"/>
            <a:ext cx="5266944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7" y="5897879"/>
            <a:ext cx="529437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4200" b="0" i="0">
                <a:solidFill>
                  <a:srgbClr val="BB8A27"/>
                </a:solidFill>
                <a:latin typeface="Open Sans"/>
              </a:defRPr>
            </a:pPr>
            <a:r>
              <a:t>79%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7" y="6876288"/>
            <a:ext cx="524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  <a:r>
              <a:t>FY2025 recurring-revenue contribution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7" y="7635240"/>
            <a:ext cx="524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22 — BAKRIELAND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0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Building a Community Requires More Than Residential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260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400" b="1" i="0">
                <a:solidFill>
                  <a:srgbClr val="BB8A27"/>
                </a:solidFill>
                <a:latin typeface="Open Sans"/>
              </a:defRPr>
            </a:pPr>
            <a:r>
              <a:t>Key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38728"/>
            <a:ext cx="40233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100" b="0" i="0">
                <a:solidFill>
                  <a:srgbClr val="BB8A27"/>
                </a:solidFill>
                <a:latin typeface="Liberation Serif"/>
              </a:defRPr>
            </a:pPr>
            <a:r>
              <a:t>Kahuripan Nirwana, Sidoarjo.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2926080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400" b="1" i="0">
                <a:solidFill>
                  <a:srgbClr val="BB8A27"/>
                </a:solidFill>
                <a:latin typeface="Open Sans"/>
              </a:defRPr>
            </a:pPr>
            <a:r>
              <a:t>Competitive Strength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3538728"/>
            <a:ext cx="621792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100" b="0" i="0">
                <a:solidFill>
                  <a:srgbClr val="BB8A27"/>
                </a:solidFill>
                <a:latin typeface="Liberation Serif"/>
              </a:defRPr>
            </a:pPr>
            <a:r>
              <a:t>An established Sidoarjo township combining landed housing, apartments, shophouses, food courts, and supporting facilities.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" y="5577840"/>
            <a:ext cx="10881359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5897879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4200" b="0" i="0">
                <a:solidFill>
                  <a:srgbClr val="BB8A27"/>
                </a:solidFill>
                <a:latin typeface="Open Sans"/>
              </a:defRPr>
            </a:pPr>
            <a:r>
              <a:t>2,000 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6876288"/>
            <a:ext cx="1086307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0392" y="6976872"/>
            <a:ext cx="108630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Stated long-term development potential of Kahuripan Nirwana, not completed development area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23 — JAYA LAND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0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Understanding the Everyday Value of a Home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260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400" b="1" i="0">
                <a:solidFill>
                  <a:srgbClr val="BB8A27"/>
                </a:solidFill>
                <a:latin typeface="Open Sans"/>
              </a:defRPr>
            </a:pPr>
            <a:r>
              <a:t>Key Developments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38728"/>
            <a:ext cx="40233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100" b="0" i="0">
                <a:solidFill>
                  <a:srgbClr val="BB8A27"/>
                </a:solidFill>
                <a:latin typeface="Liberation Serif"/>
              </a:defRPr>
            </a:pPr>
            <a:r>
              <a:t>Puri Surya Jaya, Grand Surya, and other Sidoarjo residential products.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2926080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400" b="1" i="0">
                <a:solidFill>
                  <a:srgbClr val="BB8A27"/>
                </a:solidFill>
                <a:latin typeface="Open Sans"/>
              </a:defRPr>
            </a:pPr>
            <a:r>
              <a:t>Competitive Strength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3538728"/>
            <a:ext cx="621792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100" b="0" i="0">
                <a:solidFill>
                  <a:srgbClr val="BB8A27"/>
                </a:solidFill>
                <a:latin typeface="Liberation Serif"/>
              </a:defRPr>
            </a:pPr>
            <a:r>
              <a:t>Local residential offerings that demonstrate the importance of practical layouts, location, household budgets, and attainable ownership.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" y="5577840"/>
            <a:ext cx="10881359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5897879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4200" b="0" i="0">
                <a:solidFill>
                  <a:srgbClr val="BB8A27"/>
                </a:solidFill>
                <a:latin typeface="Open Sans"/>
              </a:defRPr>
            </a:pPr>
            <a:r>
              <a:t>Rp465M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6876288"/>
            <a:ext cx="1086307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0392" y="6976872"/>
            <a:ext cx="108630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  <a:r>
              <a:t>Registered Grand Surya Jupiter house price: 36 m² building / 73 m² land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24 — INTILAND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0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When Nature and Lifestyle Become Part of Everyday Living.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260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400" b="1" i="0">
                <a:solidFill>
                  <a:srgbClr val="BB8A27"/>
                </a:solidFill>
                <a:latin typeface="Open Sans"/>
              </a:defRPr>
            </a:pPr>
            <a:r>
              <a:t>Key Developments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38728"/>
            <a:ext cx="40233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100" b="0" i="0">
                <a:solidFill>
                  <a:srgbClr val="BB8A27"/>
                </a:solidFill>
                <a:latin typeface="Liberation Serif"/>
              </a:defRPr>
            </a:pPr>
            <a:r>
              <a:t>Graha Natura, Amesta Living, Graha Famili.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2926080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400" b="1" i="0">
                <a:solidFill>
                  <a:srgbClr val="BB8A27"/>
                </a:solidFill>
                <a:latin typeface="Open Sans"/>
              </a:defRPr>
            </a:pPr>
            <a:r>
              <a:t>Competitive Strength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3538728"/>
            <a:ext cx="621792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100" b="0" i="0">
                <a:solidFill>
                  <a:srgbClr val="BB8A27"/>
                </a:solidFill>
                <a:latin typeface="Liberation Serif"/>
              </a:defRPr>
            </a:pPr>
            <a:r>
              <a:t>Differentiated residential environments integrating landscape, green open space, recreation, and lifestyle facilities into the living experience.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" y="5577840"/>
            <a:ext cx="5266944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5897879"/>
            <a:ext cx="529437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4200" b="0" i="0">
                <a:solidFill>
                  <a:srgbClr val="BB8A27"/>
                </a:solidFill>
                <a:latin typeface="Open Sans"/>
              </a:defRPr>
            </a:pPr>
            <a:r>
              <a:t>86 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6876288"/>
            <a:ext cx="524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  <a:r>
              <a:t>Graha Natura development area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7635240"/>
            <a:ext cx="524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64807" y="5577840"/>
            <a:ext cx="5266944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7" y="5897879"/>
            <a:ext cx="529437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4200" b="0" i="0">
                <a:solidFill>
                  <a:srgbClr val="BB8A27"/>
                </a:solidFill>
                <a:latin typeface="Open Sans"/>
              </a:defRPr>
            </a:pPr>
            <a:r>
              <a:t>Rp1.61T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7" y="6876288"/>
            <a:ext cx="524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  <a:r>
              <a:t>FY2025 group marketing sales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7" y="7635240"/>
            <a:ext cx="524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0" i="0">
                <a:solidFill>
                  <a:srgbClr val="BB8A27"/>
                </a:solidFill>
                <a:latin typeface="Liberation Serif"/>
              </a:defRPr>
            </a:p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B8A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FFFFFF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FFFFFF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FFFFFF"/>
                </a:solidFill>
                <a:latin typeface="Open Sans"/>
              </a:defRPr>
            </a:pPr>
            <a: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FFFFFF"/>
                </a:solidFill>
                <a:latin typeface="Open Sans"/>
              </a:defRPr>
            </a:pPr>
            <a:r>
              <a:rPr spc="110"/>
              <a:t>SLIDE 25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743200"/>
            <a:ext cx="1014984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400" b="0" i="1">
                <a:solidFill>
                  <a:srgbClr val="FFFFFF"/>
                </a:solidFill>
                <a:latin typeface="Liberation Serif"/>
              </a:defRPr>
            </a:pPr>
            <a:r>
              <a:t>The ambition goes beyond building a township. It is about creating a destination that becomes part of how people live, explore, and connect.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26 — BSD 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1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Building an identity around an ecosystem.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71800"/>
            <a:ext cx="47091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100" b="0" i="0">
                <a:solidFill>
                  <a:srgbClr val="BB8A27"/>
                </a:solidFill>
                <a:latin typeface="Liberation Serif"/>
              </a:defRPr>
            </a:pPr>
            <a:r>
              <a:t>BSD City connects residential development with education facilities and the Digital Hub platform. 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4709160"/>
            <a:ext cx="470916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965192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500" b="1" i="0">
                <a:solidFill>
                  <a:srgbClr val="BB8A27"/>
                </a:solidFill>
                <a:latin typeface="Open Sans"/>
              </a:defRPr>
            </a:pPr>
            <a:r>
              <a:t>Strategic lesson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623560"/>
            <a:ext cx="47091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200" b="0" i="0">
                <a:solidFill>
                  <a:srgbClr val="BB8A27"/>
                </a:solidFill>
                <a:latin typeface="Liberation Serif"/>
              </a:defRPr>
            </a:pPr>
            <a:r>
              <a:t>Specialized positioning requires institutions, infrastructure, partners, and sustained activity.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718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500" b="1" i="0">
                <a:solidFill>
                  <a:srgbClr val="BB8A27"/>
                </a:solidFill>
                <a:latin typeface="Open Sans"/>
              </a:defRPr>
            </a:pPr>
            <a:r>
              <a:t>Application for Tanrise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657600"/>
            <a:ext cx="53949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A technology, education, or enterprise direction should be supported by: </a:t>
            </a:r>
          </a:p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● Proven demand. </a:t>
            </a:r>
          </a:p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● Relevant anchor partners. </a:t>
            </a:r>
          </a:p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● Appropriate infrastructure. </a:t>
            </a:r>
          </a:p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● A viable operating model.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772667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800" b="0" i="1">
                <a:solidFill>
                  <a:srgbClr val="BB8A27"/>
                </a:solidFill>
                <a:latin typeface="Liberation Serif"/>
              </a:defRPr>
            </a:pPr>
            <a:r>
              <a:t>The identity must be supported by what the development can deliver.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27 — PIK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1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Creating a recognizable reason to visit.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71800"/>
            <a:ext cx="47091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100" b="0" i="0">
                <a:solidFill>
                  <a:srgbClr val="BB8A27"/>
                </a:solidFill>
                <a:latin typeface="Liberation Serif"/>
              </a:defRPr>
            </a:pPr>
            <a:r>
              <a:t>PIK’s published lifestyle offering includes themed culinary and leisure destinations, supported by coordinated visitor programming. 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4709160"/>
            <a:ext cx="470916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965192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500" b="1" i="0">
                <a:solidFill>
                  <a:srgbClr val="BB8A27"/>
                </a:solidFill>
                <a:latin typeface="Open Sans"/>
              </a:defRPr>
            </a:pPr>
            <a:r>
              <a:t>Strategic lesson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623560"/>
            <a:ext cx="47091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200" b="0" i="0">
                <a:solidFill>
                  <a:srgbClr val="BB8A27"/>
                </a:solidFill>
                <a:latin typeface="Liberation Serif"/>
              </a:defRPr>
            </a:pPr>
            <a:r>
              <a:t>Distinctive experiences can introduce people to a place before they consider living there.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718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500" b="1" i="0">
                <a:solidFill>
                  <a:srgbClr val="BB8A27"/>
                </a:solidFill>
                <a:latin typeface="Open Sans"/>
              </a:defRPr>
            </a:pPr>
            <a:r>
              <a:t>Application for Tanrise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657600"/>
            <a:ext cx="53949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Explore a signature destination that: </a:t>
            </a:r>
          </a:p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● Serves residents. </a:t>
            </a:r>
          </a:p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● Welcomes surrounding communities. </a:t>
            </a:r>
          </a:p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● Encourages repeat visits. </a:t>
            </a:r>
          </a:p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● Has sustainable commercial demand.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772667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800" b="0" i="1">
                <a:solidFill>
                  <a:srgbClr val="BB8A27"/>
                </a:solidFill>
                <a:latin typeface="Liberation Serif"/>
              </a:defRPr>
            </a:pPr>
            <a:r>
              <a:t>A destination should contribute to the neighborhood throughout the week.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28 — BENCHMARK 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1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Integration establishes relevance. A clear role creates distinction.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3108960"/>
            <a:ext cx="11228832" cy="7315"/>
          </a:xfrm>
          <a:prstGeom prst="rect">
            <a:avLst/>
          </a:prstGeom>
          <a:solidFill>
            <a:srgbClr val="BB8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3236976"/>
            <a:ext cx="3742646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Reference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67358" y="3236976"/>
            <a:ext cx="7120425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Lesson for Tanrise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" y="3675887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3822191"/>
            <a:ext cx="3715214" cy="436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1" i="0">
                <a:solidFill>
                  <a:srgbClr val="BB8A27"/>
                </a:solidFill>
                <a:latin typeface="Open Sans"/>
              </a:defRPr>
            </a:pPr>
            <a:r>
              <a:t>Agung Sedayu Group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67358" y="3822191"/>
            <a:ext cx="7092993" cy="436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Coordinate homes, services, and destinations.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" y="4313355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4459659"/>
            <a:ext cx="3715214" cy="436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1" i="0">
                <a:solidFill>
                  <a:srgbClr val="BB8A27"/>
                </a:solidFill>
                <a:latin typeface="Open Sans"/>
              </a:defRPr>
            </a:pPr>
            <a:r>
              <a:t>Agung Podomoro Land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7358" y="4459659"/>
            <a:ext cx="7092993" cy="436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Make the lifestyle promise visible.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" y="4950822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5097126"/>
            <a:ext cx="3715214" cy="436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1" i="0">
                <a:solidFill>
                  <a:srgbClr val="BB8A27"/>
                </a:solidFill>
                <a:latin typeface="Open Sans"/>
              </a:defRPr>
            </a:pPr>
            <a:r>
              <a:t>Summarecon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7358" y="5097126"/>
            <a:ext cx="7092993" cy="436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Support residential life with daily facilities.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" y="5588290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5734594"/>
            <a:ext cx="3715214" cy="436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1" i="0">
                <a:solidFill>
                  <a:srgbClr val="BB8A27"/>
                </a:solidFill>
                <a:latin typeface="Open Sans"/>
              </a:defRPr>
            </a:pPr>
            <a:r>
              <a:t>Sentul City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7358" y="5734594"/>
            <a:ext cx="7092993" cy="436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Express environmental identity through usable spaces.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0392" y="6225757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6372061"/>
            <a:ext cx="3715214" cy="436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1" i="0">
                <a:solidFill>
                  <a:srgbClr val="BB8A27"/>
                </a:solidFill>
                <a:latin typeface="Open Sans"/>
              </a:defRPr>
            </a:pPr>
            <a:r>
              <a:t>Pakuwon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7358" y="6372061"/>
            <a:ext cx="7092993" cy="436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Understand regional expectations of convenience.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0392" y="6863225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7009529"/>
            <a:ext cx="3715214" cy="436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1" i="0">
                <a:solidFill>
                  <a:srgbClr val="BB8A27"/>
                </a:solidFill>
                <a:latin typeface="Open Sans"/>
              </a:defRPr>
            </a:pPr>
            <a:r>
              <a:t>BSD City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7358" y="7009529"/>
            <a:ext cx="7092993" cy="436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Build specialized identity through an ecosystem.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" y="7500692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7646996"/>
            <a:ext cx="3715214" cy="436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1" i="0">
                <a:solidFill>
                  <a:srgbClr val="BB8A27"/>
                </a:solidFill>
                <a:latin typeface="Open Sans"/>
              </a:defRPr>
            </a:pPr>
            <a:r>
              <a:t>PIK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7358" y="7646996"/>
            <a:ext cx="7092993" cy="436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Give the place a recognizable experience.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0392" y="8138160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29 — COMPARABLE CORRIDOR STUDIES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1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Understand the mechanism behind the growth.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3703320"/>
            <a:ext cx="3450336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3922776"/>
            <a:ext cx="345033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Jakarta–Tangerang / BSD–Serpong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4818888"/>
            <a:ext cx="3450336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A reference for investigating the relationship between employment, education, services, and residential development.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39640" y="3703320"/>
            <a:ext cx="3450336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9640" y="3922776"/>
            <a:ext cx="345033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Greater Jakarta–Sentul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9640" y="4818888"/>
            <a:ext cx="3450336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A reference for investigating how landscape and recreation contribute to residential and destination identity.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28888" y="3703320"/>
            <a:ext cx="3450336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28888" y="3922776"/>
            <a:ext cx="345033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Surabaya–Sidoarjo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8888" y="4818888"/>
            <a:ext cx="3450336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The application context for testing combinations of employment access, housing, services, and leisure.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C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FFFFFF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FFFFFF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FFFFFF"/>
                </a:solidFill>
                <a:latin typeface="Open Sans"/>
              </a:defRPr>
            </a:pPr>
            <a: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FFFFFF"/>
                </a:solidFill>
                <a:latin typeface="Open Sans"/>
              </a:defRPr>
            </a:pPr>
            <a:r>
              <a:rPr spc="110"/>
              <a:t>SLIDE 30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0000" b="0" i="0">
                <a:solidFill>
                  <a:srgbClr val="BB8A27"/>
                </a:solidFill>
                <a:latin typeface="Open Sans"/>
              </a:defRPr>
            </a:pPr>
            <a: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4599432"/>
            <a:ext cx="10881360" cy="7315"/>
          </a:xfrm>
          <a:prstGeom prst="rect">
            <a:avLst/>
          </a:prstGeom>
          <a:solidFill>
            <a:srgbClr val="BB8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5120640"/>
            <a:ext cx="1088136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400" b="0" i="0">
                <a:solidFill>
                  <a:srgbClr val="FFFFFF"/>
                </a:solidFill>
                <a:latin typeface="Open Sans"/>
              </a:defRPr>
            </a:pPr>
            <a:r>
              <a:rPr spc="150"/>
              <a:t>MARKET GAPS &amp; OPPORTUNITIES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31 — OPPORTUNITY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1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Industry 4.0: As Industries Evolve, So Should the Way People Live.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3886200"/>
            <a:ext cx="3450336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4105656"/>
            <a:ext cx="345033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Everyday Convenience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001768"/>
            <a:ext cx="3450336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Can the development make essential services easier to access?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39640" y="3886200"/>
            <a:ext cx="3450336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9640" y="4105656"/>
            <a:ext cx="345033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Active Community 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9640" y="5001768"/>
            <a:ext cx="3450336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Can shared spaces and regular activities support meaningful connections?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28888" y="3886200"/>
            <a:ext cx="3450336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28888" y="4105656"/>
            <a:ext cx="345033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Comfortable Outdoor Living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8888" y="5001768"/>
            <a:ext cx="3450336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Can landscape and public space improve the everyday residential experience?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32 — OPPORTUNITY 01: EVERYDAY CONVENIENCE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1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Make daily life easier to organize.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24612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1">
                <a:solidFill>
                  <a:srgbClr val="BB8A27"/>
                </a:solidFill>
                <a:latin typeface="Liberation Serif"/>
              </a:defRPr>
            </a:pPr>
            <a:r>
              <a:t>Explore demand for: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" y="4206240"/>
            <a:ext cx="1097280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407407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200" b="0" i="0">
                <a:solidFill>
                  <a:srgbClr val="BB8A27"/>
                </a:solidFill>
                <a:latin typeface="Liberation Serif"/>
              </a:defRPr>
            </a:pPr>
            <a:r>
              <a:t>● Homes connected to useful daily services.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" y="5074920"/>
            <a:ext cx="1097280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276088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200" b="0" i="0">
                <a:solidFill>
                  <a:srgbClr val="BB8A27"/>
                </a:solidFill>
                <a:latin typeface="Liberation Serif"/>
              </a:defRPr>
            </a:pPr>
            <a:r>
              <a:t>● Practical access to education and healthcare.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5943600"/>
            <a:ext cx="1097280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6144768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200" b="0" i="0">
                <a:solidFill>
                  <a:srgbClr val="BB8A27"/>
                </a:solidFill>
                <a:latin typeface="Liberation Serif"/>
              </a:defRPr>
            </a:pPr>
            <a:r>
              <a:t>● Clear and safe internal movement.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" y="6812279"/>
            <a:ext cx="1097280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7013447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200" b="0" i="0">
                <a:solidFill>
                  <a:srgbClr val="BB8A27"/>
                </a:solidFill>
                <a:latin typeface="Liberation Serif"/>
              </a:defRPr>
            </a:pPr>
            <a:r>
              <a:t>● Convenient dining and household retail.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33 — OPPORTUNITY 02: ACTIVE COMMUNITY LIFE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1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Create shared spaces with a purpose.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24612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1">
                <a:solidFill>
                  <a:srgbClr val="BB8A27"/>
                </a:solidFill>
                <a:latin typeface="Liberation Serif"/>
              </a:defRPr>
            </a:pPr>
            <a:r>
              <a:t>Explore demand for: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" y="4206240"/>
            <a:ext cx="1097280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407407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200" b="0" i="0">
                <a:solidFill>
                  <a:srgbClr val="BB8A27"/>
                </a:solidFill>
                <a:latin typeface="Liberation Serif"/>
              </a:defRPr>
            </a:pPr>
            <a:r>
              <a:t>● Flexible gathering spaces.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" y="5074920"/>
            <a:ext cx="1097280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276088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200" b="0" i="0">
                <a:solidFill>
                  <a:srgbClr val="BB8A27"/>
                </a:solidFill>
                <a:latin typeface="Liberation Serif"/>
              </a:defRPr>
            </a:pPr>
            <a:r>
              <a:t>● Family recreation.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5943600"/>
            <a:ext cx="1097280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6144768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200" b="0" i="0">
                <a:solidFill>
                  <a:srgbClr val="BB8A27"/>
                </a:solidFill>
                <a:latin typeface="Liberation Serif"/>
              </a:defRPr>
            </a:pPr>
            <a:r>
              <a:t>● Sports and wellbeing activities.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" y="6812279"/>
            <a:ext cx="1097280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7013447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200" b="0" i="0">
                <a:solidFill>
                  <a:srgbClr val="BB8A27"/>
                </a:solidFill>
                <a:latin typeface="Liberation Serif"/>
              </a:defRPr>
            </a:pPr>
            <a:r>
              <a:t>● Local markets and neighborhood events.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34 — OPPORTUNITY 03: COMFORTABLE OUTDOOR LIVING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1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Make outdoor space useful every 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24612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1">
                <a:solidFill>
                  <a:srgbClr val="BB8A27"/>
                </a:solidFill>
                <a:latin typeface="Liberation Serif"/>
              </a:defRPr>
            </a:pPr>
            <a:r>
              <a:t>Explore opportunities for: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" y="4206240"/>
            <a:ext cx="1097280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407407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200" b="0" i="0">
                <a:solidFill>
                  <a:srgbClr val="BB8A27"/>
                </a:solidFill>
                <a:latin typeface="Liberation Serif"/>
              </a:defRPr>
            </a:pPr>
            <a:r>
              <a:t>● Shaded walking routes.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" y="5074920"/>
            <a:ext cx="1097280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276088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200" b="0" i="0">
                <a:solidFill>
                  <a:srgbClr val="BB8A27"/>
                </a:solidFill>
                <a:latin typeface="Liberation Serif"/>
              </a:defRPr>
            </a:pPr>
            <a:r>
              <a:t>● Accessible play and recreation areas.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5943600"/>
            <a:ext cx="1097280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6144768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200" b="0" i="0">
                <a:solidFill>
                  <a:srgbClr val="BB8A27"/>
                </a:solidFill>
                <a:latin typeface="Liberation Serif"/>
              </a:defRPr>
            </a:pPr>
            <a:r>
              <a:t>● Comfortable seating and resting points.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" y="6812279"/>
            <a:ext cx="1097280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7013447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200" b="0" i="0">
                <a:solidFill>
                  <a:srgbClr val="BB8A27"/>
                </a:solidFill>
                <a:latin typeface="Liberation Serif"/>
              </a:defRPr>
            </a:pPr>
            <a:r>
              <a:t>● Landscape integrated with drainage and maintenance.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35 — THE STRATEGIC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1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Bring the essentials of a better day 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108960"/>
            <a:ext cx="10698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400" b="0" i="0">
                <a:solidFill>
                  <a:srgbClr val="BB8A27"/>
                </a:solidFill>
                <a:latin typeface="Liberation Serif"/>
              </a:defRPr>
            </a:pPr>
            <a:r>
              <a:t>A potential role for Tanrise City Sidoarjo is to connect homes, services, recreation, and community within a coordinated environment. Sunrise Residence Sidoarjo can express this direction through the residential experience—from the home itself to the spaces and services around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" y="5760720"/>
            <a:ext cx="1097280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080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400" b="1" i="0">
                <a:solidFill>
                  <a:srgbClr val="BB8A27"/>
                </a:solidFill>
                <a:latin typeface="Open Sans"/>
              </a:defRPr>
            </a:pPr>
            <a:r>
              <a:t>Working opportunity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676656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100" b="0" i="1">
                <a:solidFill>
                  <a:srgbClr val="BB8A27"/>
                </a:solidFill>
                <a:latin typeface="Liberation Serif"/>
              </a:defRPr>
            </a:pPr>
            <a:r>
              <a:t>A connected place to live, grow, and belong.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C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FFFFFF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FFFFFF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FFFFFF"/>
                </a:solidFill>
                <a:latin typeface="Open Sans"/>
              </a:defRPr>
            </a:pPr>
            <a: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FFFFFF"/>
                </a:solidFill>
                <a:latin typeface="Open Sans"/>
              </a:defRPr>
            </a:pPr>
            <a:r>
              <a:rPr spc="110"/>
              <a:t>SLIDE 36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0000" b="0" i="0">
                <a:solidFill>
                  <a:srgbClr val="BB8A27"/>
                </a:solidFill>
                <a:latin typeface="Open Sans"/>
              </a:defRPr>
            </a:pPr>
            <a: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4599432"/>
            <a:ext cx="10881360" cy="7315"/>
          </a:xfrm>
          <a:prstGeom prst="rect">
            <a:avLst/>
          </a:prstGeom>
          <a:solidFill>
            <a:srgbClr val="BB8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5120640"/>
            <a:ext cx="1088136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400" b="0" i="0">
                <a:solidFill>
                  <a:srgbClr val="FFFFFF"/>
                </a:solidFill>
                <a:latin typeface="Open Sans"/>
              </a:defRPr>
            </a:pPr>
            <a:r>
              <a:rPr spc="150"/>
              <a:t>CITY POSITIONING &amp;</a:t>
            </a:r>
          </a:p>
          <a:p>
            <a:pPr>
              <a:lnSpc>
                <a:spcPct val="116000"/>
              </a:lnSpc>
              <a:spcAft>
                <a:spcPts val="500"/>
              </a:spcAft>
              <a:defRPr sz="3400" b="0" i="0">
                <a:solidFill>
                  <a:srgbClr val="FFFFFF"/>
                </a:solidFill>
                <a:latin typeface="Open Sans"/>
              </a:defRPr>
            </a:pPr>
            <a:r>
              <a:rPr spc="150"/>
              <a:t>STRATEGIC DIRECTION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37 — POSITIONING ALTERNATIVES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24028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700" b="0" i="0">
                <a:solidFill>
                  <a:srgbClr val="BB8A27"/>
                </a:solidFill>
                <a:latin typeface="Open Sans"/>
              </a:defRPr>
            </a:pPr>
            <a:r>
              <a:t>The City of Better Living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886200"/>
            <a:ext cx="10607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400" b="0" i="1">
                <a:solidFill>
                  <a:srgbClr val="BB8A27"/>
                </a:solidFill>
                <a:latin typeface="Liberation Serif"/>
              </a:defRPr>
            </a:pPr>
            <a:r>
              <a:t>A Better Life in Motion.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5669280"/>
            <a:ext cx="1042416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6172200"/>
            <a:ext cx="10424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500" b="0" i="0">
                <a:solidFill>
                  <a:srgbClr val="BB8A27"/>
                </a:solidFill>
                <a:latin typeface="Liberation Serif"/>
              </a:defRPr>
            </a:pPr>
            <a:r>
              <a:t>A family township built around active living, recreation, education, and connected daily services.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38 — RECOMMENDED POSITIONING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73736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400" b="1" i="0">
                <a:solidFill>
                  <a:srgbClr val="BB8A27"/>
                </a:solidFill>
                <a:latin typeface="Open Sans"/>
              </a:defRPr>
            </a:pPr>
            <a:r>
              <a:rPr spc="100"/>
              <a:t>TANRISE CITY SIDOARJO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33172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500" b="0" i="0">
                <a:solidFill>
                  <a:srgbClr val="BB8A27"/>
                </a:solidFill>
                <a:latin typeface="Open Sans"/>
              </a:defRPr>
            </a:pPr>
            <a:r>
              <a:t>A City That Moves Life Forward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6118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200" b="0" i="0">
                <a:solidFill>
                  <a:srgbClr val="BB8A27"/>
                </a:solidFill>
                <a:latin typeface="Liberation Serif"/>
              </a:defRPr>
            </a:pPr>
            <a:r>
              <a:t>Through Sunrise Residence Sidoarjo, this proposition becomes a residential experience shaped around practical needs and a welcoming community environment.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5074920"/>
            <a:ext cx="1097280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53492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300" b="1" i="0">
                <a:solidFill>
                  <a:srgbClr val="BB8A27"/>
                </a:solidFill>
                <a:latin typeface="Open Sans"/>
              </a:defRPr>
            </a:pPr>
            <a:r>
              <a:t>The promise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943600"/>
            <a:ext cx="31089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700" b="0" i="1">
                <a:solidFill>
                  <a:srgbClr val="BB8A27"/>
                </a:solidFill>
                <a:latin typeface="Liberation Serif"/>
              </a:defRPr>
            </a:pPr>
            <a:r>
              <a:t>A City That Moves Life Forward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330952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300" b="1" i="0">
                <a:solidFill>
                  <a:srgbClr val="BB8A27"/>
                </a:solidFill>
                <a:latin typeface="Open Sans"/>
              </a:defRPr>
            </a:pPr>
            <a:r>
              <a:t>Economic foundation: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571500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800" b="0" i="0">
                <a:solidFill>
                  <a:srgbClr val="BB8A27"/>
                </a:solidFill>
                <a:latin typeface="Liberation Serif"/>
              </a:defRPr>
            </a:pPr>
            <a:r>
              <a:t>Sidoarjo’s manufacturing, logistics, commerce, and professional economy.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6300216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300" b="1" i="0">
                <a:solidFill>
                  <a:srgbClr val="BB8A27"/>
                </a:solidFill>
                <a:latin typeface="Open Sans"/>
              </a:defRPr>
            </a:pPr>
            <a:r>
              <a:t>Experiential identity: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6684264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800" b="0" i="0">
                <a:solidFill>
                  <a:srgbClr val="BB8A27"/>
                </a:solidFill>
                <a:latin typeface="Liberation Serif"/>
              </a:defRPr>
            </a:pPr>
            <a:r>
              <a:t>Active living, green public space, family recreation, and community activity.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726948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300" b="1" i="0">
                <a:solidFill>
                  <a:srgbClr val="BB8A27"/>
                </a:solidFill>
                <a:latin typeface="Open Sans"/>
              </a:defRPr>
            </a:pPr>
            <a:r>
              <a:t>Long-term anchors: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7653528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800" b="0" i="0">
                <a:solidFill>
                  <a:srgbClr val="BB8A27"/>
                </a:solidFill>
                <a:latin typeface="Liberation Serif"/>
              </a:defRPr>
            </a:pPr>
            <a:r>
              <a:t>Education, enterprise, and a thriving neighborhood town centre.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39 — THREE DEVELOPMENT PILLARS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" y="2926080"/>
            <a:ext cx="3450336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3145536"/>
            <a:ext cx="345033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Everyday Ease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4041648"/>
            <a:ext cx="345033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Connect homes with the services and routes people use most.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39640" y="2926080"/>
            <a:ext cx="3450336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39640" y="3145536"/>
            <a:ext cx="345033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Shared Vitality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9640" y="4041648"/>
            <a:ext cx="345033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Create welcoming places for recreation, gathering, and local activity.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28888" y="2926080"/>
            <a:ext cx="3450336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8888" y="3145536"/>
            <a:ext cx="345033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Lasting Care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8888" y="4041648"/>
            <a:ext cx="345033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Maintain the quality of the environment through dependable infrastructure and estate management.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74066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300" b="0" i="1">
                <a:solidFill>
                  <a:srgbClr val="BB8A27"/>
                </a:solidFill>
                <a:latin typeface="Liberation Serif"/>
              </a:defRPr>
            </a:pPr>
            <a:r>
              <a:t>Together, these pillars guide how the development is planned, experienced, and sustained.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40 — TRANSLATING THE PILLARS INTO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1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Every promise needs a physical response.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3200400"/>
            <a:ext cx="11228832" cy="7315"/>
          </a:xfrm>
          <a:prstGeom prst="rect">
            <a:avLst/>
          </a:prstGeom>
          <a:solidFill>
            <a:srgbClr val="BB8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3328416"/>
            <a:ext cx="273844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Pillar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63154" y="3328416"/>
            <a:ext cx="812462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t>Potential Development Response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" y="3767328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3913632"/>
            <a:ext cx="2711010" cy="9204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200" b="1" i="0">
                <a:solidFill>
                  <a:srgbClr val="BB8A27"/>
                </a:solidFill>
                <a:latin typeface="Open Sans"/>
              </a:defRPr>
            </a:pPr>
            <a:r>
              <a:t>Everyday Ease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3154" y="3913632"/>
            <a:ext cx="8097197" cy="9204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300" b="0" i="0">
                <a:solidFill>
                  <a:srgbClr val="BB8A27"/>
                </a:solidFill>
                <a:latin typeface="Liberation Serif"/>
              </a:defRPr>
            </a:pPr>
            <a:r>
              <a:t>Convenient daily retail, legible access, and routes connecting homes with shared facilities.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" y="4888992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5035296"/>
            <a:ext cx="2711010" cy="9204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200" b="1" i="0">
                <a:solidFill>
                  <a:srgbClr val="BB8A27"/>
                </a:solidFill>
                <a:latin typeface="Open Sans"/>
              </a:defRPr>
            </a:pPr>
            <a:r>
              <a:t>Shared Vitality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3154" y="5035296"/>
            <a:ext cx="8097197" cy="9204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300" b="0" i="0">
                <a:solidFill>
                  <a:srgbClr val="BB8A27"/>
                </a:solidFill>
                <a:latin typeface="Liberation Serif"/>
              </a:defRPr>
            </a:pPr>
            <a:r>
              <a:t>Recreation areas, flexible gathering spaces, and a recognizable community destination.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" y="6010656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6156960"/>
            <a:ext cx="2711010" cy="9204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200" b="1" i="0">
                <a:solidFill>
                  <a:srgbClr val="BB8A27"/>
                </a:solidFill>
                <a:latin typeface="Open Sans"/>
              </a:defRPr>
            </a:pPr>
            <a:r>
              <a:t>Lasting Care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3154" y="6156960"/>
            <a:ext cx="8097197" cy="9204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300" b="0" i="0">
                <a:solidFill>
                  <a:srgbClr val="BB8A27"/>
                </a:solidFill>
                <a:latin typeface="Liberation Serif"/>
              </a:defRPr>
            </a:pPr>
            <a:r>
              <a:t>Maintainable landscapes, drainage infrastructure, service access, and a clear management framework.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" y="7132320"/>
            <a:ext cx="11228832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7543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1">
                <a:solidFill>
                  <a:srgbClr val="BB8A27"/>
                </a:solidFill>
                <a:latin typeface="Liberation Serif"/>
              </a:defRPr>
            </a:pPr>
            <a:r>
              <a:t>Facility sizes, land-use proportions, and locations should follow demand analysis and technical assessment.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41 — A SIGNATURE COMMUNITY DESTINATION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1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Give the development a place to come 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063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Explore a community destination combining selected elements such as: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224528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300" b="0" i="0">
                <a:solidFill>
                  <a:srgbClr val="BB8A27"/>
                </a:solidFill>
                <a:latin typeface="Liberation Serif"/>
              </a:defRPr>
            </a:pPr>
            <a:r>
              <a:t>● Everyday dining and local retail.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864608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300" b="0" i="0">
                <a:solidFill>
                  <a:srgbClr val="BB8A27"/>
                </a:solidFill>
                <a:latin typeface="Liberation Serif"/>
              </a:defRPr>
            </a:pPr>
            <a:r>
              <a:t>● Flexible gathering and event space.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504688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300" b="0" i="0">
                <a:solidFill>
                  <a:srgbClr val="BB8A27"/>
                </a:solidFill>
                <a:latin typeface="Liberation Serif"/>
              </a:defRPr>
            </a:pPr>
            <a:r>
              <a:t>● Family recreation.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144768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300" b="0" i="0">
                <a:solidFill>
                  <a:srgbClr val="BB8A27"/>
                </a:solidFill>
                <a:latin typeface="Liberation Serif"/>
              </a:defRPr>
            </a:pPr>
            <a:r>
              <a:t>● Landscaped outdoor areas.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7040880"/>
            <a:ext cx="1097280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73152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Its role is to serve residents and offer surrounding communities a relevant reason to visit. Begin with uses that can sustain regular demand. Expand as the community grows.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42 — DEVELOPMENT SEQUENCE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1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Build confidence through the first residential experience.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3794760"/>
            <a:ext cx="3450336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4014216"/>
            <a:ext cx="345033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Establish the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4910328"/>
            <a:ext cx="3450336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Deliver access, utilities, drainage, homes, and essential services.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39640" y="3794760"/>
            <a:ext cx="3450336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9640" y="4014216"/>
            <a:ext cx="345033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Activate the Community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9640" y="4910328"/>
            <a:ext cx="3450336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Introduce shared spaces, recreation, and appropriate activities as occupancy grows.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28888" y="3794760"/>
            <a:ext cx="3450336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28888" y="4014216"/>
            <a:ext cx="345033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Expand the Offering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8888" y="4910328"/>
            <a:ext cx="3450336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Add larger commercial or institutional components when demand and partnerships justify them.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43 — PROPOSED VISION &amp; 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9659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  <a:r>
              <a:t>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743200"/>
            <a:ext cx="42976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100" b="0" i="1">
                <a:solidFill>
                  <a:srgbClr val="BB8A27"/>
                </a:solidFill>
                <a:latin typeface="Liberation Serif"/>
              </a:defRPr>
            </a:pPr>
            <a:r>
              <a:t>To become a connected community in Sidoarjo where people can build a better everyday life.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5394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600" b="1" i="0">
                <a:solidFill>
                  <a:srgbClr val="BB8A27"/>
                </a:solidFill>
                <a:latin typeface="Open Sans"/>
              </a:defRPr>
            </a:pPr>
            <a:r>
              <a:t>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53949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100" b="0" i="0">
                <a:solidFill>
                  <a:srgbClr val="BB8A27"/>
                </a:solidFill>
                <a:latin typeface="Liberation Serif"/>
              </a:defRPr>
            </a:pPr>
          </a:p>
          <a:p>
            <a:pPr>
              <a:lnSpc>
                <a:spcPct val="116000"/>
              </a:lnSpc>
              <a:spcAft>
                <a:spcPts val="500"/>
              </a:spcAft>
              <a:defRPr sz="2100" b="0" i="0">
                <a:solidFill>
                  <a:srgbClr val="BB8A27"/>
                </a:solidFill>
                <a:latin typeface="Liberation Serif"/>
              </a:defRPr>
            </a:pPr>
            <a:r>
              <a:t>● Develop homes and shared environments around practical household needs. </a:t>
            </a:r>
          </a:p>
          <a:p>
            <a:pPr>
              <a:lnSpc>
                <a:spcPct val="116000"/>
              </a:lnSpc>
              <a:spcAft>
                <a:spcPts val="500"/>
              </a:spcAft>
              <a:defRPr sz="2100" b="0" i="0">
                <a:solidFill>
                  <a:srgbClr val="BB8A27"/>
                </a:solidFill>
                <a:latin typeface="Liberation Serif"/>
              </a:defRPr>
            </a:pPr>
            <a:r>
              <a:t>● Connect residential life with relevant services, recreation, and local activity. </a:t>
            </a:r>
          </a:p>
          <a:p>
            <a:pPr>
              <a:lnSpc>
                <a:spcPct val="116000"/>
              </a:lnSpc>
              <a:spcAft>
                <a:spcPts val="500"/>
              </a:spcAft>
              <a:defRPr sz="2100" b="0" i="0">
                <a:solidFill>
                  <a:srgbClr val="BB8A27"/>
                </a:solidFill>
                <a:latin typeface="Liberation Serif"/>
              </a:defRPr>
            </a:pPr>
            <a:r>
              <a:t>● Sustain the quality of the place through responsible planning and dependable management.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" y="7315200"/>
            <a:ext cx="10972800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75895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900" b="0" i="0">
                <a:solidFill>
                  <a:srgbClr val="BB8A27"/>
                </a:solidFill>
                <a:latin typeface="Liberation Serif"/>
              </a:defRPr>
            </a:pPr>
            <a:r>
              <a:t>Sunrise Residence Sidoarjo brings this ambition into the everyday experience of its residents.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BB8A27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BB8A27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BB8A27"/>
                </a:solidFill>
                <a:latin typeface="Open Sans"/>
              </a:defRPr>
            </a:pPr>
            <a: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BB8A27"/>
                </a:solidFill>
                <a:latin typeface="Open Sans"/>
              </a:defRPr>
            </a:pPr>
            <a:r>
              <a:rPr spc="110"/>
              <a:t>SLIDE 44 — VALIDATION &amp; ALIGNMENT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2"/>
            <a:ext cx="110642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100" b="0" i="0">
                <a:solidFill>
                  <a:srgbClr val="BB8A27"/>
                </a:solidFill>
                <a:latin typeface="Open Sans"/>
              </a:defRPr>
            </a:pPr>
            <a:r>
              <a:rPr spc="35"/>
              <a:t>Establish the evidence behind the direction.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3200400"/>
            <a:ext cx="5394959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3419856"/>
            <a:ext cx="539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Site &amp; 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4315968"/>
            <a:ext cx="539495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Confirm boundaries, access, permitted uses, constraints, and masterplan status.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84263" y="3200400"/>
            <a:ext cx="5394959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84263" y="3419856"/>
            <a:ext cx="539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Market &amp; Customers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4263" y="4315968"/>
            <a:ext cx="539495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Establish catchment demographics, affordability, buyer motivations, and competing supply.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" y="5669280"/>
            <a:ext cx="5394959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888736"/>
            <a:ext cx="539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Commercial &amp; Delivery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6784848"/>
            <a:ext cx="539495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Test product economics, partnerships, operating requirements, and phasing.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84263" y="5669280"/>
            <a:ext cx="5394959" cy="7315"/>
          </a:xfrm>
          <a:prstGeom prst="rect">
            <a:avLst/>
          </a:prstGeom>
          <a:solidFill>
            <a:srgbClr val="DDC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84263" y="5888736"/>
            <a:ext cx="539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700" b="1" i="0">
                <a:solidFill>
                  <a:srgbClr val="BB8A27"/>
                </a:solidFill>
                <a:latin typeface="Open Sans"/>
              </a:defRPr>
            </a:pPr>
            <a:r>
              <a:rPr spc="35"/>
              <a:t>Management Alignment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4263" y="6784848"/>
            <a:ext cx="539495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000" b="0" i="0">
                <a:solidFill>
                  <a:srgbClr val="BB8A27"/>
                </a:solidFill>
                <a:latin typeface="Liberation Serif"/>
              </a:defRPr>
            </a:pPr>
            <a:r>
              <a:t>Agree on priority audiences, development ambition, positioning, and approval criteria.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B8A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92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900" b="1" i="0">
                <a:solidFill>
                  <a:srgbClr val="FFFFFF"/>
                </a:solidFill>
                <a:latin typeface="Open Sans"/>
              </a:defRPr>
            </a:pPr>
            <a:r>
              <a:rPr spc="80"/>
              <a:t>TANRISE CITY SIDOARJO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0" y="3200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780" b="0" i="0">
                <a:solidFill>
                  <a:srgbClr val="FFFFFF"/>
                </a:solidFill>
                <a:latin typeface="Open Sans"/>
              </a:defRPr>
            </a:pPr>
            <a:r>
              <a:rPr spc="70"/>
              <a:t>MARKET UNDERSTANDING &amp; STRATEGIC POSITIONING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0" y="865936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6000"/>
              </a:lnSpc>
              <a:spcAft>
                <a:spcPts val="500"/>
              </a:spcAft>
              <a:defRPr sz="1000" b="0" i="0">
                <a:solidFill>
                  <a:srgbClr val="FFFFFF"/>
                </a:solidFill>
                <a:latin typeface="Open Sans"/>
              </a:defRPr>
            </a:pPr>
            <a: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521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200" b="1" i="0">
                <a:solidFill>
                  <a:srgbClr val="FFFFFF"/>
                </a:solidFill>
                <a:latin typeface="Open Sans"/>
              </a:defRPr>
            </a:pPr>
            <a:r>
              <a:rPr spc="110"/>
              <a:t>SLIDE 45 — 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56231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1500" b="1" i="0">
                <a:solidFill>
                  <a:srgbClr val="FFFFFF"/>
                </a:solidFill>
                <a:latin typeface="Open Sans"/>
              </a:defRPr>
            </a:pPr>
            <a:r>
              <a:rPr spc="150"/>
              <a:t>TANRISE CITY SIDOARJO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34640"/>
            <a:ext cx="108813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3900" b="0" i="0">
                <a:solidFill>
                  <a:srgbClr val="FFFFFF"/>
                </a:solidFill>
                <a:latin typeface="Open Sans"/>
              </a:defRPr>
            </a:pPr>
            <a:r>
              <a:rPr spc="50"/>
              <a:t>A Better-Connected</a:t>
            </a:r>
          </a:p>
          <a:p>
            <a:pPr>
              <a:lnSpc>
                <a:spcPct val="116000"/>
              </a:lnSpc>
              <a:spcAft>
                <a:spcPts val="500"/>
              </a:spcAft>
              <a:defRPr sz="3900" b="0" i="0">
                <a:solidFill>
                  <a:srgbClr val="FFFFFF"/>
                </a:solidFill>
                <a:latin typeface="Open Sans"/>
              </a:defRPr>
            </a:pPr>
            <a:r>
              <a:rPr spc="50"/>
              <a:t>Everyday Life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394960"/>
            <a:ext cx="102412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400" b="0" i="0">
                <a:solidFill>
                  <a:srgbClr val="FFFFFF"/>
                </a:solidFill>
                <a:latin typeface="Liberation Serif"/>
              </a:defRPr>
            </a:pPr>
            <a:r>
              <a:t>Through Sunrise Residence Sidoarjo, the opportunity is to connect well-considered homes with relevant services, shared activity, and dependable care.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7223760"/>
            <a:ext cx="10607040" cy="73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756208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Aft>
                <a:spcPts val="500"/>
              </a:spcAft>
              <a:defRPr sz="2600" b="0" i="1">
                <a:solidFill>
                  <a:srgbClr val="FFFFFF"/>
                </a:solidFill>
                <a:latin typeface="Liberation Serif"/>
              </a:defRPr>
            </a:pPr>
            <a:r>
              <a:t>A place to live. A community to grow with.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Open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Liberation Serif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Tanrise City Sidoarjo — Market Understanding &amp; Strategic Positioning Proposal</dc:title>
  <dc:subject>Client concept approval presentation</dc:subject>
  <dc:creator>Tanrise City Sidoarjo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