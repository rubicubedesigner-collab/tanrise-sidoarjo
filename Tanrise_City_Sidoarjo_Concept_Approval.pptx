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01.</a:t>
            </a:r>
          </a:p>
          <a:p>
            <a:r>
              <a:t>Original source wording (for traceability):</a:t>
            </a:r>
          </a:p>
          <a:p>
            <a:r>
              <a:t>SLIDE 01 — COVER</a:t>
            </a:r>
          </a:p>
          <a:p>
            <a:r>
              <a:t>TANRISE CITY SIDOARJO </a:t>
            </a:r>
          </a:p>
          <a:p>
            <a:r>
              <a:t>Creating a City for Active Living, Discovery, and Connection </a:t>
            </a:r>
          </a:p>
          <a:p>
            <a:r>
              <a:t>Market Understanding, Competitive Landscape &amp; Strategic Direction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02.</a:t>
            </a:r>
          </a:p>
          <a:p>
            <a:r>
              <a:t>Original source wording (for traceability):</a:t>
            </a:r>
          </a:p>
          <a:p>
            <a:r>
              <a:t>SLIDE 02 — THE BELIEF</a:t>
            </a:r>
          </a:p>
          <a:p>
            <a:r>
              <a:t>The true value of a city lies beyond its physical development, in </a:t>
            </a:r>
          </a:p>
          <a:p>
            <a:r>
              <a:t>its ability to enrich everyday life, inspire discovery, and foster </a:t>
            </a:r>
          </a:p>
          <a:p>
            <a:r>
              <a:t>meaningful connections.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03.</a:t>
            </a:r>
          </a:p>
          <a:p>
            <a:r>
              <a:t>Original source wording (for traceability):</a:t>
            </a:r>
          </a:p>
          <a:p>
            <a:r>
              <a:t>SLIDE 03 — THE STRATEGIC APPROACH</a:t>
            </a:r>
          </a:p>
          <a:p>
            <a:r>
              <a:t>A meaningful destination begins where place, people, and experiences come together. </a:t>
            </a:r>
          </a:p>
          <a:p>
            <a:r>
              <a:t>PLACE </a:t>
            </a:r>
          </a:p>
          <a:p>
            <a:r>
              <a:t>The character, potential, and opportunities of Sidoarjo to create a destination with a distinct </a:t>
            </a:r>
          </a:p>
          <a:p>
            <a:r>
              <a:t>sense of place. </a:t>
            </a:r>
          </a:p>
          <a:p>
            <a:r>
              <a:t> </a:t>
            </a:r>
          </a:p>
          <a:p>
            <a:r>
              <a:t>PEOPLE </a:t>
            </a:r>
          </a:p>
          <a:p>
            <a:r>
              <a:t>The lifestyles, aspirations, and everyday moments that bring people together and give a place </a:t>
            </a:r>
          </a:p>
          <a:p>
            <a:r>
              <a:t>meaning. </a:t>
            </a:r>
          </a:p>
          <a:p>
            <a:r>
              <a:t> </a:t>
            </a:r>
          </a:p>
          <a:p>
            <a:r>
              <a:t>EXPERIENCE </a:t>
            </a:r>
          </a:p>
          <a:p>
            <a:r>
              <a:t>Places to explore, activities to enjoy, and shared experiences that make every visit meaningful.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04.</a:t>
            </a:r>
          </a:p>
          <a:p>
            <a:r>
              <a:t>Original source wording (for traceability):</a:t>
            </a:r>
          </a:p>
          <a:p>
            <a:r>
              <a:t>SLIDE 04 — THE APPROACH</a:t>
            </a:r>
          </a:p>
          <a:p>
            <a:r>
              <a:t>From market understanding to a clear development direction. </a:t>
            </a:r>
          </a:p>
          <a:p>
            <a:r>
              <a:t>01 — Market &amp; Regional Overview</a:t>
            </a:r>
          </a:p>
          <a:p>
            <a:r>
              <a:t>Understand the economic setting and potential demand. </a:t>
            </a:r>
          </a:p>
          <a:p>
            <a:r>
              <a:t>02 — Site &amp; Surrounding Review</a:t>
            </a:r>
          </a:p>
          <a:p>
            <a:r>
              <a:t>Identify the location’s opportunities and constraints. </a:t>
            </a:r>
          </a:p>
          <a:p>
            <a:r>
              <a:t>03 — Competitor &amp; Corridor Benchmarking</a:t>
            </a:r>
          </a:p>
          <a:p>
            <a:r>
              <a:t>Examine how other developments establish relevance. </a:t>
            </a:r>
          </a:p>
          <a:p>
            <a:r>
              <a:t>04 — Market Gaps &amp; Opportunities</a:t>
            </a:r>
          </a:p>
          <a:p>
            <a:r>
              <a:t>Identify needs and opportunities to validate. </a:t>
            </a:r>
          </a:p>
          <a:p>
            <a:r>
              <a:t>05 — City Positioning &amp; Strategic Direction</a:t>
            </a:r>
          </a:p>
          <a:p>
            <a:r>
              <a:t>Translate the findings into a clear proposition.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05.</a:t>
            </a:r>
          </a:p>
          <a:p>
            <a:r>
              <a:t>Original source wording (for traceability):</a:t>
            </a:r>
          </a:p>
          <a:p>
            <a:r>
              <a:t>SLIDE 05</a:t>
            </a:r>
          </a:p>
          <a:p>
            <a:r>
              <a:t>01 — MARKET &amp; REGIONAL OVERVIEW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06.</a:t>
            </a:r>
          </a:p>
          <a:p>
            <a:r>
              <a:t>Original source wording (for traceability):</a:t>
            </a:r>
          </a:p>
          <a:p>
            <a:r>
              <a:t>SLIDE 06 — THE ECONOMIC FOUNDATION</a:t>
            </a:r>
          </a:p>
          <a:p>
            <a:r>
              <a:t>An Industrial Economy. A City of Growing Possibilities. </a:t>
            </a:r>
          </a:p>
          <a:p>
            <a:r>
              <a:t>Sidoarjo's economic strength is built around a substantial industrial and manufacturing base, </a:t>
            </a:r>
          </a:p>
          <a:p>
            <a:r>
              <a:t>creating an important foundation for employment, entrepreneurship, and regional economic </a:t>
            </a:r>
          </a:p>
          <a:p>
            <a:r>
              <a:t>activity. </a:t>
            </a:r>
          </a:p>
          <a:p>
            <a:r>
              <a:t>5.63%</a:t>
            </a:r>
          </a:p>
          <a:p/>
          <a:p>
            <a:r>
              <a:t>49.45%</a:t>
            </a:r>
          </a:p>
          <a:p/>
          <a:p/>
          <a:p>
            <a:r>
              <a:t>Rp319.25T </a:t>
            </a:r>
          </a:p>
          <a:p>
            <a:r>
              <a:t>Economic Growth</a:t>
            </a:r>
          </a:p>
          <a:p/>
          <a:p>
            <a:r>
              <a:t>Manufacturing Contribution</a:t>
            </a:r>
          </a:p>
          <a:p/>
          <a:p>
            <a:r>
              <a:t>Regional Economy </a:t>
            </a:r>
          </a:p>
          <a:p>
            <a:r>
              <a:t>2025 · Sidoarjo</a:t>
            </a:r>
          </a:p>
          <a:p/>
          <a:p>
            <a:r>
              <a:t>Share of 2025 regional GDP </a:t>
            </a:r>
          </a:p>
          <a:p>
            <a:r>
              <a:t>2025 GDP, current prices </a:t>
            </a:r>
          </a:p>
          <a:p>
            <a:r>
              <a:t>Source: BPS Kabupaten Sidoarjo, Economic Growth 2025. </a:t>
            </a:r>
          </a:p>
          <a:p>
            <a:r>
              <a:t>An economy driven by industry creates an opportunity to serve the lives built around it. </a:t>
            </a:r>
          </a:p>
          <a:p/>
          <a:p>
            <a:r>
              <a:t>Sidoarjo's economy provides the foundation. The opportunity lies in creating a city that </a:t>
            </a:r>
          </a:p>
          <a:p>
            <a:r>
              <a:t>enriches the lives of the people behind it.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07.</a:t>
            </a:r>
          </a:p>
          <a:p>
            <a:r>
              <a:t>Original source wording (for traceability):</a:t>
            </a:r>
          </a:p>
          <a:p>
            <a:r>
              <a:t>SLIDE 07 — THE REGIONAL OPPORTUNITY</a:t>
            </a:r>
          </a:p>
          <a:p>
            <a:r>
              <a:t>Connected to a Greater Economy. Positioned for a More Complete Way of Life. </a:t>
            </a:r>
          </a:p>
          <a:p>
            <a:r>
              <a:t>Sidoarjo is part of the Greater Surabaya metropolitan ecosystem, connecting industrial activity, </a:t>
            </a:r>
          </a:p>
          <a:p>
            <a:r>
              <a:t>employment, commerce, and regional mobility. </a:t>
            </a:r>
          </a:p>
          <a:p>
            <a:r>
              <a:t>Strategic Strength </a:t>
            </a:r>
          </a:p>
          <a:p>
            <a:r>
              <a:t>Key Opportunity </a:t>
            </a:r>
          </a:p>
          <a:p>
            <a:r>
              <a:t>01 — Metropolitan Connectivity </a:t>
            </a:r>
          </a:p>
          <a:p>
            <a:r>
              <a:t>Access to Surabaya's employment, business, </a:t>
            </a:r>
          </a:p>
          <a:p>
            <a:r>
              <a:t>and commercial ecosystem. </a:t>
            </a:r>
          </a:p>
          <a:p>
            <a:r>
              <a:t>02 — Industrial &amp; Economic Growth </a:t>
            </a:r>
          </a:p>
          <a:p>
            <a:r>
              <a:t>An established industrial base supporting </a:t>
            </a:r>
          </a:p>
          <a:p>
            <a:r>
              <a:t>professionals, entrepreneurs, and </a:t>
            </a:r>
          </a:p>
          <a:p>
            <a:r>
              <a:t>households. </a:t>
            </a:r>
          </a:p>
          <a:p>
            <a:r>
              <a:t>03 — Regional Accessibility </a:t>
            </a:r>
          </a:p>
          <a:p>
            <a:r>
              <a:t>Connections to transport infrastructure, </a:t>
            </a:r>
          </a:p>
          <a:p>
            <a:r>
              <a:t>services, and lifestyle destinations.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08.</a:t>
            </a:r>
          </a:p>
          <a:p>
            <a:r>
              <a:t>Original source wording (for traceability):</a:t>
            </a:r>
          </a:p>
          <a:p>
            <a:r>
              <a:t>SLIDE 08 — CONNECTED TO THE INDUSTRY</a:t>
            </a:r>
          </a:p>
          <a:p>
            <a:r>
              <a:t>An Established Aviation Gateway Strengthens Sidoarjo's Potential as a Place to Live, Work, and </a:t>
            </a:r>
          </a:p>
          <a:p>
            <a:r>
              <a:t>Connect. </a:t>
            </a:r>
          </a:p>
          <a:p>
            <a:r>
              <a:t>13.5M</a:t>
            </a:r>
          </a:p>
          <a:p/>
          <a:p>
            <a:r>
              <a:t>92K</a:t>
            </a:r>
          </a:p>
          <a:p/>
          <a:p/>
          <a:p/>
          <a:p>
            <a:r>
              <a:t>43 </a:t>
            </a:r>
          </a:p>
          <a:p>
            <a:r>
              <a:t>Annual Passengers</a:t>
            </a:r>
          </a:p>
          <a:p/>
          <a:p>
            <a:r>
              <a:t>Aircraft Movements</a:t>
            </a:r>
          </a:p>
          <a:p/>
          <a:p/>
          <a:p>
            <a:r>
              <a:t>Air Routes </a:t>
            </a:r>
          </a:p>
          <a:p>
            <a:r>
              <a:t>2025 </a:t>
            </a:r>
          </a:p>
          <a:p/>
          <a:p/>
          <a:p>
            <a:r>
              <a:t>2025 </a:t>
            </a:r>
          </a:p>
          <a:p/>
          <a:p/>
          <a:p/>
          <a:p>
            <a:r>
              <a:t>32 domestic, 11 international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09.</a:t>
            </a:r>
          </a:p>
          <a:p>
            <a:r>
              <a:t>Original source wording (for traceability):</a:t>
            </a:r>
          </a:p>
          <a:p>
            <a:r>
              <a:t>SLIDE 09 — UNDERSTANDING THE PEOPLE</a:t>
            </a:r>
          </a:p>
          <a:p>
            <a:r>
              <a:t>Beyond Population. Understanding the Lives Behind the Numbers. </a:t>
            </a:r>
          </a:p>
          <a:p>
            <a:r>
              <a:t>Sidoarjo's substantial population and employment-driven economy provide a potential market </a:t>
            </a:r>
          </a:p>
          <a:p>
            <a:r>
              <a:t>for different household needs, from first-time homeowners to established families seeking a </a:t>
            </a:r>
          </a:p>
          <a:p>
            <a:r>
              <a:t>more complete lifestyle </a:t>
            </a:r>
          </a:p>
          <a:p/>
          <a:p>
            <a:r>
              <a:t>2.04M</a:t>
            </a:r>
          </a:p>
          <a:p/>
          <a:p>
            <a:r>
              <a:t>~68% </a:t>
            </a:r>
          </a:p>
          <a:p/>
          <a:p/>
          <a:p>
            <a:r>
              <a:t>49.45% </a:t>
            </a:r>
          </a:p>
          <a:p>
            <a:r>
              <a:t>Residents</a:t>
            </a:r>
          </a:p>
          <a:p/>
          <a:p/>
          <a:p>
            <a:r>
              <a:t>Working-age population</a:t>
            </a:r>
          </a:p>
          <a:p/>
          <a:p>
            <a:r>
              <a:t>Manufacturing contribution </a:t>
            </a:r>
          </a:p>
          <a:p>
            <a:r>
              <a:t>2025 registration data.</a:t>
            </a:r>
          </a:p>
          <a:p>
            <a:r>
              <a:t>Ages 15–59, Dec 2025</a:t>
            </a:r>
          </a:p>
          <a:p/>
          <a:p>
            <a:r>
              <a:t>2025 regional GDP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Four Potential Audience Segments: </a:t>
            </a:r>
          </a:p>
          <a:p>
            <a:r>
              <a:t> </a:t>
            </a:r>
          </a:p>
          <a:p>
            <a:r>
              <a:t>01 — Family &amp; Living </a:t>
            </a:r>
          </a:p>
          <a:p>
            <a:r>
              <a:t>02 — Work &amp; Opportunity </a:t>
            </a:r>
          </a:p>
          <a:p>
            <a:r>
              <a:t>Homes and environments that support </a:t>
            </a:r>
          </a:p>
          <a:p>
            <a:r>
              <a:t>different generations and stages of life. </a:t>
            </a:r>
          </a:p>
          <a:p>
            <a:r>
              <a:t>Convenience and connectivity that </a:t>
            </a:r>
          </a:p>
          <a:p>
            <a:r>
              <a:t>complement professional and business </a:t>
            </a:r>
          </a:p>
          <a:p>
            <a:r>
              <a:t>routines. </a:t>
            </a:r>
          </a:p>
          <a:p>
            <a:r>
              <a:t>03 — Lifestyle &amp; Discovery </a:t>
            </a:r>
          </a:p>
          <a:p>
            <a:r>
              <a:t>04 — Connection &amp; Belonging </a:t>
            </a:r>
          </a:p>
          <a:p>
            <a:r>
              <a:t>More choices for recreation, dining, </a:t>
            </a:r>
          </a:p>
          <a:p>
            <a:r>
              <a:t>exploration, and everyday enjoyment. </a:t>
            </a:r>
          </a:p>
          <a:p>
            <a:r>
              <a:t>Shared spaces and experiences that </a:t>
            </a:r>
          </a:p>
          <a:p>
            <a:r>
              <a:t>encourage meaningful social interaction.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09.</a:t>
            </a:r>
          </a:p>
          <a:p>
            <a:r>
              <a:t>Original source wording (for traceability):</a:t>
            </a:r>
          </a:p>
          <a:p>
            <a:r>
              <a:t>SLIDE 09 — UNDERSTANDING THE PEOPLE</a:t>
            </a:r>
          </a:p>
          <a:p>
            <a:r>
              <a:t>Beyond Population. Understanding the Lives Behind the Numbers. </a:t>
            </a:r>
          </a:p>
          <a:p>
            <a:r>
              <a:t>Sidoarjo's substantial population and employment-driven economy provide a potential market </a:t>
            </a:r>
          </a:p>
          <a:p>
            <a:r>
              <a:t>for different household needs, from first-time homeowners to established families seeking a </a:t>
            </a:r>
          </a:p>
          <a:p>
            <a:r>
              <a:t>more complete lifestyle </a:t>
            </a:r>
          </a:p>
          <a:p/>
          <a:p>
            <a:r>
              <a:t>2.04M</a:t>
            </a:r>
          </a:p>
          <a:p/>
          <a:p>
            <a:r>
              <a:t>~68% </a:t>
            </a:r>
          </a:p>
          <a:p/>
          <a:p/>
          <a:p>
            <a:r>
              <a:t>49.45% </a:t>
            </a:r>
          </a:p>
          <a:p>
            <a:r>
              <a:t>Residents</a:t>
            </a:r>
          </a:p>
          <a:p/>
          <a:p/>
          <a:p>
            <a:r>
              <a:t>Working-age population</a:t>
            </a:r>
          </a:p>
          <a:p/>
          <a:p>
            <a:r>
              <a:t>Manufacturing contribution </a:t>
            </a:r>
          </a:p>
          <a:p>
            <a:r>
              <a:t>2025 registration data.</a:t>
            </a:r>
          </a:p>
          <a:p>
            <a:r>
              <a:t>Ages 15–59, Dec 2025</a:t>
            </a:r>
          </a:p>
          <a:p/>
          <a:p>
            <a:r>
              <a:t>2025 regional GDP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Four Potential Audience Segments: </a:t>
            </a:r>
          </a:p>
          <a:p>
            <a:r>
              <a:t> </a:t>
            </a:r>
          </a:p>
          <a:p>
            <a:r>
              <a:t>01 — Family &amp; Living </a:t>
            </a:r>
          </a:p>
          <a:p>
            <a:r>
              <a:t>02 — Work &amp; Opportunity </a:t>
            </a:r>
          </a:p>
          <a:p>
            <a:r>
              <a:t>Homes and environments that support </a:t>
            </a:r>
          </a:p>
          <a:p>
            <a:r>
              <a:t>different generations and stages of life. </a:t>
            </a:r>
          </a:p>
          <a:p>
            <a:r>
              <a:t>Convenience and connectivity that </a:t>
            </a:r>
          </a:p>
          <a:p>
            <a:r>
              <a:t>complement professional and business </a:t>
            </a:r>
          </a:p>
          <a:p>
            <a:r>
              <a:t>routines. </a:t>
            </a:r>
          </a:p>
          <a:p>
            <a:r>
              <a:t>03 — Lifestyle &amp; Discovery </a:t>
            </a:r>
          </a:p>
          <a:p>
            <a:r>
              <a:t>04 — Connection &amp; Belonging </a:t>
            </a:r>
          </a:p>
          <a:p>
            <a:r>
              <a:t>More choices for recreation, dining, </a:t>
            </a:r>
          </a:p>
          <a:p>
            <a:r>
              <a:t>exploration, and everyday enjoyment. </a:t>
            </a:r>
          </a:p>
          <a:p>
            <a:r>
              <a:t>Shared spaces and experiences that </a:t>
            </a:r>
          </a:p>
          <a:p>
            <a:r>
              <a:t>encourage meaningful social interaction.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10.</a:t>
            </a:r>
          </a:p>
          <a:p>
            <a:r>
              <a:t>Original source wording (for traceability):</a:t>
            </a:r>
          </a:p>
          <a:p>
            <a:r>
              <a:t>SLIDE 10 — THE EXISTING TOWNSHIP LANDSCAPE</a:t>
            </a:r>
          </a:p>
          <a:p>
            <a:r>
              <a:t>A Growing Residential Market. An Opportunity to Redefine Everyday Living.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Market Dimension </a:t>
            </a:r>
          </a:p>
          <a:p>
            <a:r>
              <a:t>Existing Condition </a:t>
            </a:r>
          </a:p>
          <a:p>
            <a:r>
              <a:t>Opportunity for Tanrise City Sidoarjo </a:t>
            </a:r>
          </a:p>
          <a:p>
            <a:r>
              <a:t>Housing </a:t>
            </a:r>
          </a:p>
          <a:p>
            <a:r>
              <a:t>Established cluster-based </a:t>
            </a:r>
          </a:p>
          <a:p>
            <a:r>
              <a:t>residential developments </a:t>
            </a:r>
          </a:p>
          <a:p>
            <a:r>
              <a:t>More diverse residential choices across </a:t>
            </a:r>
          </a:p>
          <a:p>
            <a:r>
              <a:t>household life stages </a:t>
            </a:r>
          </a:p>
          <a:p>
            <a:r>
              <a:t>Lifestyle </a:t>
            </a:r>
          </a:p>
          <a:p>
            <a:r>
              <a:t>Amenities concentrated in </a:t>
            </a:r>
          </a:p>
          <a:p>
            <a:r>
              <a:t>existing townships and </a:t>
            </a:r>
          </a:p>
          <a:p>
            <a:r>
              <a:t>commercial areas </a:t>
            </a:r>
          </a:p>
          <a:p>
            <a:r>
              <a:t>A connected collection of lifestyle and </a:t>
            </a:r>
          </a:p>
          <a:p>
            <a:r>
              <a:t>leisure destinations </a:t>
            </a:r>
          </a:p>
          <a:p>
            <a:r>
              <a:t>Community </a:t>
            </a:r>
          </a:p>
          <a:p>
            <a:r>
              <a:t>Residential </a:t>
            </a:r>
          </a:p>
          <a:p>
            <a:r>
              <a:t>neighborhoods with </a:t>
            </a:r>
          </a:p>
          <a:p>
            <a:r>
              <a:t>private shared facilities </a:t>
            </a:r>
          </a:p>
          <a:p>
            <a:r>
              <a:t>Inclusive gathering spaces and recurring </a:t>
            </a:r>
          </a:p>
          <a:p>
            <a:r>
              <a:t>community activities </a:t>
            </a:r>
          </a:p>
          <a:p>
            <a:r>
              <a:t>Green </a:t>
            </a:r>
          </a:p>
          <a:p>
            <a:r>
              <a:t>Environment </a:t>
            </a:r>
          </a:p>
          <a:p>
            <a:r>
              <a:t>Greenery is already a </a:t>
            </a:r>
          </a:p>
          <a:p>
            <a:r>
              <a:t>common township </a:t>
            </a:r>
          </a:p>
          <a:p>
            <a:r>
              <a:t>proposition </a:t>
            </a:r>
          </a:p>
          <a:p>
            <a:r>
              <a:t>Make connected landscapes and active </a:t>
            </a:r>
          </a:p>
          <a:p>
            <a:r>
              <a:t>outdoor experiences central to daily life </a:t>
            </a:r>
          </a:p>
          <a:p>
            <a:r>
              <a:t>Commercial </a:t>
            </a:r>
          </a:p>
          <a:p>
            <a:r>
              <a:t>Retail and </a:t>
            </a:r>
          </a:p>
          <a:p>
            <a:r>
              <a:t>food-and-beverage </a:t>
            </a:r>
          </a:p>
          <a:p>
            <a:r>
              <a:t>A complementary commercial ecosystem </a:t>
            </a:r>
          </a:p>
          <a:p>
            <a:r>
              <a:t>designed around everyday use </a:t>
            </a:r>
          </a:p>
          <a:p/>
          <a:p>
            <a:r>
              <a:t>activity distributed across </a:t>
            </a:r>
          </a:p>
          <a:p>
            <a:r>
              <a:t>urban corridors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10.</a:t>
            </a:r>
          </a:p>
          <a:p>
            <a:r>
              <a:t>Original source wording (for traceability):</a:t>
            </a:r>
          </a:p>
          <a:p>
            <a:r>
              <a:t>SLIDE 10 — THE EXISTING TOWNSHIP LANDSCAPE</a:t>
            </a:r>
          </a:p>
          <a:p>
            <a:r>
              <a:t>A Growing Residential Market. An Opportunity to Redefine Everyday Living. </a:t>
            </a:r>
          </a:p>
          <a:p>
            <a:r>
              <a:t> </a:t>
            </a:r>
          </a:p>
          <a:p>
            <a:r>
              <a:t> </a:t>
            </a:r>
          </a:p>
          <a:p>
            <a:r>
              <a:t>Market Dimension </a:t>
            </a:r>
          </a:p>
          <a:p>
            <a:r>
              <a:t>Existing Condition </a:t>
            </a:r>
          </a:p>
          <a:p>
            <a:r>
              <a:t>Opportunity for Tanrise City Sidoarjo </a:t>
            </a:r>
          </a:p>
          <a:p>
            <a:r>
              <a:t>Housing </a:t>
            </a:r>
          </a:p>
          <a:p>
            <a:r>
              <a:t>Established cluster-based </a:t>
            </a:r>
          </a:p>
          <a:p>
            <a:r>
              <a:t>residential developments </a:t>
            </a:r>
          </a:p>
          <a:p>
            <a:r>
              <a:t>More diverse residential choices across </a:t>
            </a:r>
          </a:p>
          <a:p>
            <a:r>
              <a:t>household life stages </a:t>
            </a:r>
          </a:p>
          <a:p>
            <a:r>
              <a:t>Lifestyle </a:t>
            </a:r>
          </a:p>
          <a:p>
            <a:r>
              <a:t>Amenities concentrated in </a:t>
            </a:r>
          </a:p>
          <a:p>
            <a:r>
              <a:t>existing townships and </a:t>
            </a:r>
          </a:p>
          <a:p>
            <a:r>
              <a:t>commercial areas </a:t>
            </a:r>
          </a:p>
          <a:p>
            <a:r>
              <a:t>A connected collection of lifestyle and </a:t>
            </a:r>
          </a:p>
          <a:p>
            <a:r>
              <a:t>leisure destinations </a:t>
            </a:r>
          </a:p>
          <a:p>
            <a:r>
              <a:t>Community </a:t>
            </a:r>
          </a:p>
          <a:p>
            <a:r>
              <a:t>Residential </a:t>
            </a:r>
          </a:p>
          <a:p>
            <a:r>
              <a:t>neighborhoods with </a:t>
            </a:r>
          </a:p>
          <a:p>
            <a:r>
              <a:t>private shared facilities </a:t>
            </a:r>
          </a:p>
          <a:p>
            <a:r>
              <a:t>Inclusive gathering spaces and recurring </a:t>
            </a:r>
          </a:p>
          <a:p>
            <a:r>
              <a:t>community activities </a:t>
            </a:r>
          </a:p>
          <a:p>
            <a:r>
              <a:t>Green </a:t>
            </a:r>
          </a:p>
          <a:p>
            <a:r>
              <a:t>Environment </a:t>
            </a:r>
          </a:p>
          <a:p>
            <a:r>
              <a:t>Greenery is already a </a:t>
            </a:r>
          </a:p>
          <a:p>
            <a:r>
              <a:t>common township </a:t>
            </a:r>
          </a:p>
          <a:p>
            <a:r>
              <a:t>proposition </a:t>
            </a:r>
          </a:p>
          <a:p>
            <a:r>
              <a:t>Make connected landscapes and active </a:t>
            </a:r>
          </a:p>
          <a:p>
            <a:r>
              <a:t>outdoor experiences central to daily life </a:t>
            </a:r>
          </a:p>
          <a:p>
            <a:r>
              <a:t>Commercial </a:t>
            </a:r>
          </a:p>
          <a:p>
            <a:r>
              <a:t>Retail and </a:t>
            </a:r>
          </a:p>
          <a:p>
            <a:r>
              <a:t>food-and-beverage </a:t>
            </a:r>
          </a:p>
          <a:p>
            <a:r>
              <a:t>A complementary commercial ecosystem </a:t>
            </a:r>
          </a:p>
          <a:p>
            <a:r>
              <a:t>designed around everyday use </a:t>
            </a:r>
          </a:p>
          <a:p/>
          <a:p>
            <a:r>
              <a:t>activity distributed across </a:t>
            </a:r>
          </a:p>
          <a:p>
            <a:r>
              <a:t>urban corridors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11.</a:t>
            </a:r>
          </a:p>
          <a:p>
            <a:r>
              <a:t>Original source wording (for traceability):</a:t>
            </a:r>
          </a:p>
          <a:p>
            <a:r>
              <a:t>SLIDE 11 —</a:t>
            </a:r>
          </a:p>
          <a:p>
            <a:r>
              <a:t>Different lives.  </a:t>
            </a:r>
          </a:p>
          <a:p>
            <a:r>
              <a:t>Different aspirations.  </a:t>
            </a:r>
          </a:p>
          <a:p>
            <a:r>
              <a:t>One shared desire for a place where life has more to offer.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12.</a:t>
            </a:r>
          </a:p>
          <a:p>
            <a:r>
              <a:t>Original source wording (for traceability):</a:t>
            </a:r>
          </a:p>
          <a:p>
            <a:r>
              <a:t>SLIDE 12 —</a:t>
            </a:r>
          </a:p>
          <a:p>
            <a:r>
              <a:t>02 — SITE &amp; SURROUNDING REVIEW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13.</a:t>
            </a:r>
          </a:p>
          <a:p>
            <a:r>
              <a:t>Original source wording (for traceability):</a:t>
            </a:r>
          </a:p>
          <a:p>
            <a:r>
              <a:t>SLIDE 13 — SITE CONTEXT</a:t>
            </a:r>
          </a:p>
          <a:p>
            <a:r>
              <a:t>TANRISE CITY SIDOARJO  </a:t>
            </a:r>
          </a:p>
          <a:p/>
          <a:p>
            <a:r>
              <a:t>|</a:t>
            </a:r>
          </a:p>
          <a:p/>
          <a:p/>
          <a:p>
            <a:r>
              <a:t>SUNRISE RESIDENCE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14.</a:t>
            </a:r>
          </a:p>
          <a:p>
            <a:r>
              <a:t>Original source wording (for traceability):</a:t>
            </a:r>
          </a:p>
          <a:p>
            <a:r>
              <a:t>SLIDE 14 — ACCESSIBILITY</a:t>
            </a:r>
          </a:p>
          <a:p>
            <a:r>
              <a:t>Sunrise Residence Sidoarjo occupies a strategic planning position within an established working </a:t>
            </a:r>
          </a:p>
          <a:p>
            <a:r>
              <a:t>urban environment, where industrial facilities, existing neighborhoods, and undeveloped land </a:t>
            </a:r>
          </a:p>
          <a:p>
            <a:r>
              <a:t>coexist. </a:t>
            </a:r>
          </a:p>
          <a:p>
            <a:r>
              <a:t>Direction </a:t>
            </a:r>
          </a:p>
          <a:p>
            <a:r>
              <a:t>Existing surroundings </a:t>
            </a:r>
          </a:p>
          <a:p>
            <a:r>
              <a:t>Planning implication </a:t>
            </a:r>
          </a:p>
          <a:p>
            <a:r>
              <a:t>West </a:t>
            </a:r>
          </a:p>
          <a:p>
            <a:r>
              <a:t>Jalan Lingkar Timur and established </a:t>
            </a:r>
          </a:p>
          <a:p>
            <a:r>
              <a:t>neighborhood buildings </a:t>
            </a:r>
          </a:p>
          <a:p>
            <a:r>
              <a:t>Main road frontage and potential </a:t>
            </a:r>
          </a:p>
          <a:p>
            <a:r>
              <a:t>access visibility </a:t>
            </a:r>
          </a:p>
          <a:p>
            <a:r>
              <a:t>West </a:t>
            </a:r>
          </a:p>
          <a:p>
            <a:r>
              <a:t>Industrial buildings and </a:t>
            </a:r>
          </a:p>
          <a:p>
            <a:r>
              <a:t>warehousing </a:t>
            </a:r>
          </a:p>
          <a:p>
            <a:r>
              <a:t>Need to consider noise, servicing, </a:t>
            </a:r>
          </a:p>
          <a:p>
            <a:r>
              <a:t>and land-use buffers </a:t>
            </a:r>
          </a:p>
          <a:p>
            <a:r>
              <a:t>East </a:t>
            </a:r>
          </a:p>
          <a:p>
            <a:r>
              <a:t>Agricultural land and open areas </a:t>
            </a:r>
          </a:p>
          <a:p>
            <a:r>
              <a:t>Opportunity for open landscape </a:t>
            </a:r>
          </a:p>
          <a:p>
            <a:r>
              <a:t>views, subject to future development </a:t>
            </a:r>
          </a:p>
          <a:p/>
          <a:p>
            <a:r>
              <a:t>South </a:t>
            </a:r>
          </a:p>
          <a:p>
            <a:r>
              <a:t>Mixed vacant land, buildings, and </a:t>
            </a:r>
          </a:p>
          <a:p>
            <a:r>
              <a:t>vegetation </a:t>
            </a:r>
          </a:p>
          <a:p>
            <a:r>
              <a:t>Boundary treatment and future </a:t>
            </a:r>
          </a:p>
          <a:p>
            <a:r>
              <a:t>adjacent development need review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15.</a:t>
            </a:r>
          </a:p>
          <a:p>
            <a:r>
              <a:t>Original source wording (for traceability):</a:t>
            </a:r>
          </a:p>
          <a:p>
            <a:r>
              <a:t>SLIDE 15 — THE SURROUNDING ECOSYSTEM</a:t>
            </a:r>
          </a:p>
          <a:p>
            <a:r>
              <a:t>The industrial ecosystem is one of the clearest verified characteristics of this location. </a:t>
            </a:r>
          </a:p>
          <a:p>
            <a:r>
              <a:t>Three relevant developments along the Lingkar Timur corridor are: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16.</a:t>
            </a:r>
          </a:p>
          <a:p>
            <a:r>
              <a:t>Original source wording (for traceability):</a:t>
            </a:r>
          </a:p>
          <a:p>
            <a:r>
              <a:t>SLIDE 16 — SITE READINESS</a:t>
            </a:r>
          </a:p>
          <a:p>
            <a:r>
              <a:t>Assessment </a:t>
            </a:r>
          </a:p>
          <a:p>
            <a:r>
              <a:t>Finding </a:t>
            </a:r>
          </a:p>
          <a:p>
            <a:r>
              <a:t>Implication for Tanrise City </a:t>
            </a:r>
          </a:p>
          <a:p>
            <a:r>
              <a:t>Industrial Activity </a:t>
            </a:r>
          </a:p>
          <a:p>
            <a:r>
              <a:t>Strong existing industrial and </a:t>
            </a:r>
          </a:p>
          <a:p>
            <a:r>
              <a:t>logistics presence </a:t>
            </a:r>
          </a:p>
          <a:p>
            <a:r>
              <a:t>Potential employment-linked </a:t>
            </a:r>
          </a:p>
          <a:p>
            <a:r>
              <a:t>market, but greater attention </a:t>
            </a:r>
          </a:p>
          <a:p>
            <a:r>
              <a:t>to residential comfort </a:t>
            </a:r>
          </a:p>
          <a:p>
            <a:r>
              <a:t>Existing Housing </a:t>
            </a:r>
          </a:p>
          <a:p>
            <a:r>
              <a:t>Established neighborhoods </a:t>
            </a:r>
          </a:p>
          <a:p>
            <a:r>
              <a:t>west of the road </a:t>
            </a:r>
          </a:p>
          <a:p>
            <a:r>
              <a:t>Opportunity to complement </a:t>
            </a:r>
          </a:p>
          <a:p>
            <a:r>
              <a:t>the existing residential </a:t>
            </a:r>
          </a:p>
          <a:p>
            <a:r>
              <a:t>environment </a:t>
            </a:r>
          </a:p>
          <a:p/>
          <a:p>
            <a:r>
              <a:t>Land Character </a:t>
            </a:r>
          </a:p>
          <a:p>
            <a:r>
              <a:t>Open agricultural parcels </a:t>
            </a:r>
          </a:p>
          <a:p>
            <a:r>
              <a:t>remain near the site </a:t>
            </a:r>
          </a:p>
          <a:p>
            <a:r>
              <a:t>Opportunity for landscape-led </a:t>
            </a:r>
          </a:p>
          <a:p>
            <a:r>
              <a:t>planning; surrounding </a:t>
            </a:r>
          </a:p>
          <a:p>
            <a:r>
              <a:t>land-use changes remain </a:t>
            </a:r>
          </a:p>
          <a:p>
            <a:r>
              <a:t>uncertain </a:t>
            </a:r>
          </a:p>
          <a:p>
            <a:r>
              <a:t>Daily Services </a:t>
            </a:r>
          </a:p>
          <a:p>
            <a:r>
              <a:t>Schools and basic retail exist </a:t>
            </a:r>
          </a:p>
          <a:p>
            <a:r>
              <a:t>along the corridor </a:t>
            </a:r>
          </a:p>
          <a:p>
            <a:r>
              <a:t>Integrated daily conveniences </a:t>
            </a:r>
          </a:p>
          <a:p>
            <a:r>
              <a:t>could support residents </a:t>
            </a:r>
          </a:p>
          <a:p>
            <a:r>
              <a:t>Lifestyle Destinations </a:t>
            </a:r>
          </a:p>
          <a:p>
            <a:r>
              <a:t>Major shopping and </a:t>
            </a:r>
          </a:p>
          <a:p>
            <a:r>
              <a:t>recreation destinations exist </a:t>
            </a:r>
          </a:p>
          <a:p>
            <a:r>
              <a:t>across Sidoarjo </a:t>
            </a:r>
          </a:p>
          <a:p>
            <a:r>
              <a:t>Potential to differentiate </a:t>
            </a:r>
          </a:p>
          <a:p>
            <a:r>
              <a:t>through more distinctive and </a:t>
            </a:r>
          </a:p>
          <a:p>
            <a:r>
              <a:t>accessible activities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17.</a:t>
            </a:r>
          </a:p>
          <a:p>
            <a:r>
              <a:t>Original source wording (for traceability):</a:t>
            </a:r>
          </a:p>
          <a:p>
            <a:r>
              <a:t>SLIDE 17 — DESIGN REFERENCES</a:t>
            </a:r>
          </a:p>
          <a:p>
            <a:r>
              <a:t>Comfort, practicality, and a welcoming character. </a:t>
            </a:r>
          </a:p>
          <a:p>
            <a:r>
              <a:t>The supplied architecture and clubhouse materials provide useful reference principles: </a:t>
            </a:r>
          </a:p>
          <a:p>
            <a:r>
              <a:t>● Contemporary forms with clear, simple detailing. </a:t>
            </a:r>
          </a:p>
          <a:p>
            <a:r>
              <a:t>● Natural lighting and ventilation. </a:t>
            </a:r>
          </a:p>
          <a:p>
            <a:r>
              <a:t>● Practical layouts that balance comfort and privacy. </a:t>
            </a:r>
          </a:p>
          <a:p>
            <a:r>
              <a:t>● Warm tropical materials and architectural accents. </a:t>
            </a:r>
          </a:p>
          <a:p>
            <a:r>
              <a:t>● Shared spaces with an approachable, hospitality-inspired atmosphere.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18.</a:t>
            </a:r>
          </a:p>
          <a:p>
            <a:r>
              <a:t>Original source wording (for traceability):</a:t>
            </a:r>
          </a:p>
          <a:p>
            <a:r>
              <a:t>SLIDE 18 —</a:t>
            </a:r>
          </a:p>
          <a:p>
            <a:r>
              <a:t>03 — COMPETITOR &amp; CORRIDOR BENCHMARKING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19.</a:t>
            </a:r>
          </a:p>
          <a:p>
            <a:r>
              <a:t>Original source wording (for traceability):</a:t>
            </a:r>
          </a:p>
          <a:p>
            <a:r>
              <a:t>SLIDE 19 — BENCHMARKING FRAMEWORK</a:t>
            </a:r>
          </a:p>
          <a:p>
            <a:r>
              <a:t>Five Developers. Five Different Approaches to Township Development </a:t>
            </a:r>
          </a:p>
          <a:p>
            <a:r>
              <a:t>Greater Surabaya's property market is shaped by established developers competing through </a:t>
            </a:r>
          </a:p>
          <a:p>
            <a:r>
              <a:t>master-planned communities, residential accessibility, commercial destinations, and lifestyle </a:t>
            </a:r>
          </a:p>
          <a:p>
            <a:r>
              <a:t>integration. </a:t>
            </a:r>
          </a:p>
          <a:p>
            <a:r>
              <a:t>Developer </a:t>
            </a:r>
          </a:p>
          <a:p>
            <a:r>
              <a:t>Flagship developments </a:t>
            </a:r>
          </a:p>
          <a:p>
            <a:r>
              <a:t>Primary corridors </a:t>
            </a:r>
          </a:p>
          <a:p>
            <a:r>
              <a:t>Core strength </a:t>
            </a:r>
          </a:p>
          <a:p>
            <a:r>
              <a:t>Ciputra </a:t>
            </a:r>
          </a:p>
          <a:p>
            <a:r>
              <a:t>Group </a:t>
            </a:r>
          </a:p>
          <a:p>
            <a:r>
              <a:t>CitraLand Surabaya, </a:t>
            </a:r>
          </a:p>
          <a:p>
            <a:r>
              <a:t>CitraHarmoni, CitraGarden </a:t>
            </a:r>
          </a:p>
          <a:p>
            <a:r>
              <a:t>Sidoarjo </a:t>
            </a:r>
          </a:p>
          <a:p>
            <a:r>
              <a:t>West Surabaya, </a:t>
            </a:r>
          </a:p>
          <a:p>
            <a:r>
              <a:t>Taman, Buduran </a:t>
            </a:r>
          </a:p>
          <a:p>
            <a:r>
              <a:t>Integrated townships </a:t>
            </a:r>
          </a:p>
          <a:p>
            <a:r>
              <a:t>and master planning </a:t>
            </a:r>
          </a:p>
          <a:p>
            <a:r>
              <a:t>Pakuwon </a:t>
            </a:r>
          </a:p>
          <a:p>
            <a:r>
              <a:t>Group </a:t>
            </a:r>
          </a:p>
          <a:p>
            <a:r>
              <a:t>Pakuwon City, Grand </a:t>
            </a:r>
          </a:p>
          <a:p>
            <a:r>
              <a:t>Pakuwon </a:t>
            </a:r>
          </a:p>
          <a:p>
            <a:r>
              <a:t>East &amp; West </a:t>
            </a:r>
          </a:p>
          <a:p>
            <a:r>
              <a:t>Surabaya </a:t>
            </a:r>
          </a:p>
          <a:p>
            <a:r>
              <a:t>Commercial anchors </a:t>
            </a:r>
          </a:p>
          <a:p>
            <a:r>
              <a:t>and destination </a:t>
            </a:r>
          </a:p>
          <a:p>
            <a:r>
              <a:t>development </a:t>
            </a:r>
          </a:p>
          <a:p>
            <a:r>
              <a:t>Bakrieland </a:t>
            </a:r>
          </a:p>
          <a:p>
            <a:r>
              <a:t>Kahuripan Nirwana </a:t>
            </a:r>
          </a:p>
          <a:p>
            <a:r>
              <a:t>Central Sidoarjo, </a:t>
            </a:r>
          </a:p>
          <a:p>
            <a:r>
              <a:t>Buduran </a:t>
            </a:r>
          </a:p>
          <a:p>
            <a:r>
              <a:t>Sidoarjo township </a:t>
            </a:r>
          </a:p>
          <a:p>
            <a:r>
              <a:t>development </a:t>
            </a:r>
          </a:p>
          <a:p>
            <a:r>
              <a:t>Jaya Land </a:t>
            </a:r>
          </a:p>
          <a:p>
            <a:r>
              <a:t>Puri Surya Jaya, Grand Surya Gedangan, North </a:t>
            </a:r>
          </a:p>
          <a:p>
            <a:r>
              <a:t>Sidoarjo </a:t>
            </a:r>
          </a:p>
          <a:p>
            <a:r>
              <a:t>Established local </a:t>
            </a:r>
          </a:p>
          <a:p>
            <a:r>
              <a:t>housing market </a:t>
            </a:r>
          </a:p>
          <a:p>
            <a:r>
              <a:t>Intiland </a:t>
            </a:r>
          </a:p>
          <a:p>
            <a:r>
              <a:t>Graha Natura, Amesta Living </a:t>
            </a:r>
          </a:p>
          <a:p>
            <a:r>
              <a:t>West &amp; East </a:t>
            </a:r>
          </a:p>
          <a:p>
            <a:r>
              <a:t>Surabaya </a:t>
            </a:r>
          </a:p>
          <a:p>
            <a:r>
              <a:t>Nature-led and </a:t>
            </a:r>
          </a:p>
          <a:p>
            <a:r>
              <a:t>lifestyle-oriented living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Development model </a:t>
            </a:r>
          </a:p>
          <a:p>
            <a:r>
              <a:t>Strategic lesson </a:t>
            </a:r>
          </a:p>
          <a:p>
            <a:r>
              <a:t>Ciputra </a:t>
            </a:r>
          </a:p>
          <a:p>
            <a:r>
              <a:t>Long-term master planning with residential, </a:t>
            </a:r>
          </a:p>
          <a:p>
            <a:r>
              <a:t>education, and commercial components </a:t>
            </a:r>
          </a:p>
          <a:p>
            <a:r>
              <a:t>Integrated planning </a:t>
            </a:r>
          </a:p>
          <a:p>
            <a:r>
              <a:t>creates a recognizable </a:t>
            </a:r>
          </a:p>
          <a:p>
            <a:r>
              <a:t>township identity </a:t>
            </a:r>
          </a:p>
          <a:p>
            <a:r>
              <a:t>Pakuwon </a:t>
            </a:r>
          </a:p>
          <a:p>
            <a:r>
              <a:t>Residential development supported by substantial </a:t>
            </a:r>
          </a:p>
          <a:p>
            <a:r>
              <a:t>commercial destinations </a:t>
            </a:r>
          </a:p>
          <a:p>
            <a:r>
              <a:t>Attractions can strengthen </a:t>
            </a:r>
          </a:p>
          <a:p>
            <a:r>
              <a:t>repeat visitation and </a:t>
            </a:r>
          </a:p>
          <a:p>
            <a:r>
              <a:t>recurring income. </a:t>
            </a:r>
          </a:p>
          <a:p>
            <a:r>
              <a:t>Bakrieland </a:t>
            </a:r>
          </a:p>
          <a:p>
            <a:r>
              <a:t>Residential and mixed-use development within a </a:t>
            </a:r>
          </a:p>
          <a:p>
            <a:r>
              <a:t>local township </a:t>
            </a:r>
          </a:p>
          <a:p>
            <a:r>
              <a:t>Local market relevance </a:t>
            </a:r>
          </a:p>
          <a:p>
            <a:r>
              <a:t>and supporting </a:t>
            </a:r>
          </a:p>
          <a:p>
            <a:r>
              <a:t>infrastructure matter. </a:t>
            </a:r>
          </a:p>
          <a:p>
            <a:r>
              <a:t>Jaya Land </a:t>
            </a:r>
          </a:p>
          <a:p>
            <a:r>
              <a:t>Residential clusters positioned around established </a:t>
            </a:r>
          </a:p>
          <a:p>
            <a:r>
              <a:t>housing needs </a:t>
            </a:r>
          </a:p>
          <a:p>
            <a:r>
              <a:t>Product affordability and </a:t>
            </a:r>
          </a:p>
          <a:p>
            <a:r>
              <a:t>practical value remain </a:t>
            </a:r>
          </a:p>
          <a:p>
            <a:r>
              <a:t>fundamental. </a:t>
            </a:r>
          </a:p>
          <a:p/>
          <a:p>
            <a:r>
              <a:t>Intiland </a:t>
            </a:r>
          </a:p>
          <a:p>
            <a:r>
              <a:t>Landscape, architecture, nature, and </a:t>
            </a:r>
          </a:p>
          <a:p>
            <a:r>
              <a:t>lifestyle-oriented development </a:t>
            </a:r>
          </a:p>
          <a:p>
            <a:r>
              <a:t>Experience and </a:t>
            </a:r>
          </a:p>
          <a:p>
            <a:r>
              <a:t>environmental quality can </a:t>
            </a:r>
          </a:p>
          <a:p>
            <a:r>
              <a:t>differentiate homes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Revenue FY2025 </a:t>
            </a:r>
          </a:p>
          <a:p>
            <a:r>
              <a:t>YoY growth </a:t>
            </a:r>
          </a:p>
          <a:p>
            <a:r>
              <a:t>Ciputra (CTRA) </a:t>
            </a:r>
          </a:p>
          <a:p>
            <a:r>
              <a:t>Rp12.62T </a:t>
            </a:r>
          </a:p>
          <a:p>
            <a:r>
              <a:t>+12.8% </a:t>
            </a:r>
          </a:p>
          <a:p>
            <a:r>
              <a:t>Pakuwon (PWON) </a:t>
            </a:r>
          </a:p>
          <a:p>
            <a:r>
              <a:t>Rp7.11T </a:t>
            </a:r>
          </a:p>
          <a:p>
            <a:r>
              <a:t>+6.6% </a:t>
            </a:r>
          </a:p>
          <a:p>
            <a:r>
              <a:t>Intiland (DILD) </a:t>
            </a:r>
          </a:p>
          <a:p>
            <a:r>
              <a:t>Rp2.46T </a:t>
            </a:r>
          </a:p>
          <a:p>
            <a:r>
              <a:t>−3.6% </a:t>
            </a:r>
          </a:p>
          <a:p>
            <a:r>
              <a:t>Bakrieland (ELTY) </a:t>
            </a:r>
          </a:p>
          <a:p>
            <a:r>
              <a:t>Rp1.43T </a:t>
            </a:r>
          </a:p>
          <a:p>
            <a:r>
              <a:t>+16.2% </a:t>
            </a:r>
          </a:p>
          <a:p>
            <a:r>
              <a:t>Jaya Land </a:t>
            </a:r>
          </a:p>
          <a:p>
            <a:r>
              <a:t>Not disclosed </a:t>
            </a:r>
          </a:p>
          <a:p>
            <a:r>
              <a:t>— </a:t>
            </a:r>
          </a:p>
          <a:p>
            <a:r>
              <a:t>Tanrise (RISE) </a:t>
            </a:r>
          </a:p>
          <a:p>
            <a:r>
              <a:t>Rp410.7B </a:t>
            </a:r>
          </a:p>
          <a:p>
            <a:r>
              <a:t>+12.3%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19.</a:t>
            </a:r>
          </a:p>
          <a:p>
            <a:r>
              <a:t>Original source wording (for traceability):</a:t>
            </a:r>
          </a:p>
          <a:p>
            <a:r>
              <a:t>SLIDE 19 — BENCHMARKING FRAMEWORK</a:t>
            </a:r>
          </a:p>
          <a:p>
            <a:r>
              <a:t>Five Developers. Five Different Approaches to Township Development </a:t>
            </a:r>
          </a:p>
          <a:p>
            <a:r>
              <a:t>Greater Surabaya's property market is shaped by established developers competing through </a:t>
            </a:r>
          </a:p>
          <a:p>
            <a:r>
              <a:t>master-planned communities, residential accessibility, commercial destinations, and lifestyle </a:t>
            </a:r>
          </a:p>
          <a:p>
            <a:r>
              <a:t>integration. </a:t>
            </a:r>
          </a:p>
          <a:p>
            <a:r>
              <a:t>Developer </a:t>
            </a:r>
          </a:p>
          <a:p>
            <a:r>
              <a:t>Flagship developments </a:t>
            </a:r>
          </a:p>
          <a:p>
            <a:r>
              <a:t>Primary corridors </a:t>
            </a:r>
          </a:p>
          <a:p>
            <a:r>
              <a:t>Core strength </a:t>
            </a:r>
          </a:p>
          <a:p>
            <a:r>
              <a:t>Ciputra </a:t>
            </a:r>
          </a:p>
          <a:p>
            <a:r>
              <a:t>Group </a:t>
            </a:r>
          </a:p>
          <a:p>
            <a:r>
              <a:t>CitraLand Surabaya, </a:t>
            </a:r>
          </a:p>
          <a:p>
            <a:r>
              <a:t>CitraHarmoni, CitraGarden </a:t>
            </a:r>
          </a:p>
          <a:p>
            <a:r>
              <a:t>Sidoarjo </a:t>
            </a:r>
          </a:p>
          <a:p>
            <a:r>
              <a:t>West Surabaya, </a:t>
            </a:r>
          </a:p>
          <a:p>
            <a:r>
              <a:t>Taman, Buduran </a:t>
            </a:r>
          </a:p>
          <a:p>
            <a:r>
              <a:t>Integrated townships </a:t>
            </a:r>
          </a:p>
          <a:p>
            <a:r>
              <a:t>and master planning </a:t>
            </a:r>
          </a:p>
          <a:p>
            <a:r>
              <a:t>Pakuwon </a:t>
            </a:r>
          </a:p>
          <a:p>
            <a:r>
              <a:t>Group </a:t>
            </a:r>
          </a:p>
          <a:p>
            <a:r>
              <a:t>Pakuwon City, Grand </a:t>
            </a:r>
          </a:p>
          <a:p>
            <a:r>
              <a:t>Pakuwon </a:t>
            </a:r>
          </a:p>
          <a:p>
            <a:r>
              <a:t>East &amp; West </a:t>
            </a:r>
          </a:p>
          <a:p>
            <a:r>
              <a:t>Surabaya </a:t>
            </a:r>
          </a:p>
          <a:p>
            <a:r>
              <a:t>Commercial anchors </a:t>
            </a:r>
          </a:p>
          <a:p>
            <a:r>
              <a:t>and destination </a:t>
            </a:r>
          </a:p>
          <a:p>
            <a:r>
              <a:t>development </a:t>
            </a:r>
          </a:p>
          <a:p>
            <a:r>
              <a:t>Bakrieland </a:t>
            </a:r>
          </a:p>
          <a:p>
            <a:r>
              <a:t>Kahuripan Nirwana </a:t>
            </a:r>
          </a:p>
          <a:p>
            <a:r>
              <a:t>Central Sidoarjo, </a:t>
            </a:r>
          </a:p>
          <a:p>
            <a:r>
              <a:t>Buduran </a:t>
            </a:r>
          </a:p>
          <a:p>
            <a:r>
              <a:t>Sidoarjo township </a:t>
            </a:r>
          </a:p>
          <a:p>
            <a:r>
              <a:t>development </a:t>
            </a:r>
          </a:p>
          <a:p>
            <a:r>
              <a:t>Jaya Land </a:t>
            </a:r>
          </a:p>
          <a:p>
            <a:r>
              <a:t>Puri Surya Jaya, Grand Surya Gedangan, North </a:t>
            </a:r>
          </a:p>
          <a:p>
            <a:r>
              <a:t>Sidoarjo </a:t>
            </a:r>
          </a:p>
          <a:p>
            <a:r>
              <a:t>Established local </a:t>
            </a:r>
          </a:p>
          <a:p>
            <a:r>
              <a:t>housing market </a:t>
            </a:r>
          </a:p>
          <a:p>
            <a:r>
              <a:t>Intiland </a:t>
            </a:r>
          </a:p>
          <a:p>
            <a:r>
              <a:t>Graha Natura, Amesta Living </a:t>
            </a:r>
          </a:p>
          <a:p>
            <a:r>
              <a:t>West &amp; East </a:t>
            </a:r>
          </a:p>
          <a:p>
            <a:r>
              <a:t>Surabaya </a:t>
            </a:r>
          </a:p>
          <a:p>
            <a:r>
              <a:t>Nature-led and </a:t>
            </a:r>
          </a:p>
          <a:p>
            <a:r>
              <a:t>lifestyle-oriented living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Development model </a:t>
            </a:r>
          </a:p>
          <a:p>
            <a:r>
              <a:t>Strategic lesson </a:t>
            </a:r>
          </a:p>
          <a:p>
            <a:r>
              <a:t>Ciputra </a:t>
            </a:r>
          </a:p>
          <a:p>
            <a:r>
              <a:t>Long-term master planning with residential, </a:t>
            </a:r>
          </a:p>
          <a:p>
            <a:r>
              <a:t>education, and commercial components </a:t>
            </a:r>
          </a:p>
          <a:p>
            <a:r>
              <a:t>Integrated planning </a:t>
            </a:r>
          </a:p>
          <a:p>
            <a:r>
              <a:t>creates a recognizable </a:t>
            </a:r>
          </a:p>
          <a:p>
            <a:r>
              <a:t>township identity </a:t>
            </a:r>
          </a:p>
          <a:p>
            <a:r>
              <a:t>Pakuwon </a:t>
            </a:r>
          </a:p>
          <a:p>
            <a:r>
              <a:t>Residential development supported by substantial </a:t>
            </a:r>
          </a:p>
          <a:p>
            <a:r>
              <a:t>commercial destinations </a:t>
            </a:r>
          </a:p>
          <a:p>
            <a:r>
              <a:t>Attractions can strengthen </a:t>
            </a:r>
          </a:p>
          <a:p>
            <a:r>
              <a:t>repeat visitation and </a:t>
            </a:r>
          </a:p>
          <a:p>
            <a:r>
              <a:t>recurring income. </a:t>
            </a:r>
          </a:p>
          <a:p>
            <a:r>
              <a:t>Bakrieland </a:t>
            </a:r>
          </a:p>
          <a:p>
            <a:r>
              <a:t>Residential and mixed-use development within a </a:t>
            </a:r>
          </a:p>
          <a:p>
            <a:r>
              <a:t>local township </a:t>
            </a:r>
          </a:p>
          <a:p>
            <a:r>
              <a:t>Local market relevance </a:t>
            </a:r>
          </a:p>
          <a:p>
            <a:r>
              <a:t>and supporting </a:t>
            </a:r>
          </a:p>
          <a:p>
            <a:r>
              <a:t>infrastructure matter. </a:t>
            </a:r>
          </a:p>
          <a:p>
            <a:r>
              <a:t>Jaya Land </a:t>
            </a:r>
          </a:p>
          <a:p>
            <a:r>
              <a:t>Residential clusters positioned around established </a:t>
            </a:r>
          </a:p>
          <a:p>
            <a:r>
              <a:t>housing needs </a:t>
            </a:r>
          </a:p>
          <a:p>
            <a:r>
              <a:t>Product affordability and </a:t>
            </a:r>
          </a:p>
          <a:p>
            <a:r>
              <a:t>practical value remain </a:t>
            </a:r>
          </a:p>
          <a:p>
            <a:r>
              <a:t>fundamental. </a:t>
            </a:r>
          </a:p>
          <a:p/>
          <a:p>
            <a:r>
              <a:t>Intiland </a:t>
            </a:r>
          </a:p>
          <a:p>
            <a:r>
              <a:t>Landscape, architecture, nature, and </a:t>
            </a:r>
          </a:p>
          <a:p>
            <a:r>
              <a:t>lifestyle-oriented development </a:t>
            </a:r>
          </a:p>
          <a:p>
            <a:r>
              <a:t>Experience and </a:t>
            </a:r>
          </a:p>
          <a:p>
            <a:r>
              <a:t>environmental quality can </a:t>
            </a:r>
          </a:p>
          <a:p>
            <a:r>
              <a:t>differentiate homes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Revenue FY2025 </a:t>
            </a:r>
          </a:p>
          <a:p>
            <a:r>
              <a:t>YoY growth </a:t>
            </a:r>
          </a:p>
          <a:p>
            <a:r>
              <a:t>Ciputra (CTRA) </a:t>
            </a:r>
          </a:p>
          <a:p>
            <a:r>
              <a:t>Rp12.62T </a:t>
            </a:r>
          </a:p>
          <a:p>
            <a:r>
              <a:t>+12.8% </a:t>
            </a:r>
          </a:p>
          <a:p>
            <a:r>
              <a:t>Pakuwon (PWON) </a:t>
            </a:r>
          </a:p>
          <a:p>
            <a:r>
              <a:t>Rp7.11T </a:t>
            </a:r>
          </a:p>
          <a:p>
            <a:r>
              <a:t>+6.6% </a:t>
            </a:r>
          </a:p>
          <a:p>
            <a:r>
              <a:t>Intiland (DILD) </a:t>
            </a:r>
          </a:p>
          <a:p>
            <a:r>
              <a:t>Rp2.46T </a:t>
            </a:r>
          </a:p>
          <a:p>
            <a:r>
              <a:t>−3.6% </a:t>
            </a:r>
          </a:p>
          <a:p>
            <a:r>
              <a:t>Bakrieland (ELTY) </a:t>
            </a:r>
          </a:p>
          <a:p>
            <a:r>
              <a:t>Rp1.43T </a:t>
            </a:r>
          </a:p>
          <a:p>
            <a:r>
              <a:t>+16.2% </a:t>
            </a:r>
          </a:p>
          <a:p>
            <a:r>
              <a:t>Jaya Land </a:t>
            </a:r>
          </a:p>
          <a:p>
            <a:r>
              <a:t>Not disclosed </a:t>
            </a:r>
          </a:p>
          <a:p>
            <a:r>
              <a:t>— </a:t>
            </a:r>
          </a:p>
          <a:p>
            <a:r>
              <a:t>Tanrise (RISE) </a:t>
            </a:r>
          </a:p>
          <a:p>
            <a:r>
              <a:t>Rp410.7B </a:t>
            </a:r>
          </a:p>
          <a:p>
            <a:r>
              <a:t>+12.3%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19.</a:t>
            </a:r>
          </a:p>
          <a:p>
            <a:r>
              <a:t>Original source wording (for traceability):</a:t>
            </a:r>
          </a:p>
          <a:p>
            <a:r>
              <a:t>SLIDE 19 — BENCHMARKING FRAMEWORK</a:t>
            </a:r>
          </a:p>
          <a:p>
            <a:r>
              <a:t>Five Developers. Five Different Approaches to Township Development </a:t>
            </a:r>
          </a:p>
          <a:p>
            <a:r>
              <a:t>Greater Surabaya's property market is shaped by established developers competing through </a:t>
            </a:r>
          </a:p>
          <a:p>
            <a:r>
              <a:t>master-planned communities, residential accessibility, commercial destinations, and lifestyle </a:t>
            </a:r>
          </a:p>
          <a:p>
            <a:r>
              <a:t>integration. </a:t>
            </a:r>
          </a:p>
          <a:p>
            <a:r>
              <a:t>Developer </a:t>
            </a:r>
          </a:p>
          <a:p>
            <a:r>
              <a:t>Flagship developments </a:t>
            </a:r>
          </a:p>
          <a:p>
            <a:r>
              <a:t>Primary corridors </a:t>
            </a:r>
          </a:p>
          <a:p>
            <a:r>
              <a:t>Core strength </a:t>
            </a:r>
          </a:p>
          <a:p>
            <a:r>
              <a:t>Ciputra </a:t>
            </a:r>
          </a:p>
          <a:p>
            <a:r>
              <a:t>Group </a:t>
            </a:r>
          </a:p>
          <a:p>
            <a:r>
              <a:t>CitraLand Surabaya, </a:t>
            </a:r>
          </a:p>
          <a:p>
            <a:r>
              <a:t>CitraHarmoni, CitraGarden </a:t>
            </a:r>
          </a:p>
          <a:p>
            <a:r>
              <a:t>Sidoarjo </a:t>
            </a:r>
          </a:p>
          <a:p>
            <a:r>
              <a:t>West Surabaya, </a:t>
            </a:r>
          </a:p>
          <a:p>
            <a:r>
              <a:t>Taman, Buduran </a:t>
            </a:r>
          </a:p>
          <a:p>
            <a:r>
              <a:t>Integrated townships </a:t>
            </a:r>
          </a:p>
          <a:p>
            <a:r>
              <a:t>and master planning </a:t>
            </a:r>
          </a:p>
          <a:p>
            <a:r>
              <a:t>Pakuwon </a:t>
            </a:r>
          </a:p>
          <a:p>
            <a:r>
              <a:t>Group </a:t>
            </a:r>
          </a:p>
          <a:p>
            <a:r>
              <a:t>Pakuwon City, Grand </a:t>
            </a:r>
          </a:p>
          <a:p>
            <a:r>
              <a:t>Pakuwon </a:t>
            </a:r>
          </a:p>
          <a:p>
            <a:r>
              <a:t>East &amp; West </a:t>
            </a:r>
          </a:p>
          <a:p>
            <a:r>
              <a:t>Surabaya </a:t>
            </a:r>
          </a:p>
          <a:p>
            <a:r>
              <a:t>Commercial anchors </a:t>
            </a:r>
          </a:p>
          <a:p>
            <a:r>
              <a:t>and destination </a:t>
            </a:r>
          </a:p>
          <a:p>
            <a:r>
              <a:t>development </a:t>
            </a:r>
          </a:p>
          <a:p>
            <a:r>
              <a:t>Bakrieland </a:t>
            </a:r>
          </a:p>
          <a:p>
            <a:r>
              <a:t>Kahuripan Nirwana </a:t>
            </a:r>
          </a:p>
          <a:p>
            <a:r>
              <a:t>Central Sidoarjo, </a:t>
            </a:r>
          </a:p>
          <a:p>
            <a:r>
              <a:t>Buduran </a:t>
            </a:r>
          </a:p>
          <a:p>
            <a:r>
              <a:t>Sidoarjo township </a:t>
            </a:r>
          </a:p>
          <a:p>
            <a:r>
              <a:t>development </a:t>
            </a:r>
          </a:p>
          <a:p>
            <a:r>
              <a:t>Jaya Land </a:t>
            </a:r>
          </a:p>
          <a:p>
            <a:r>
              <a:t>Puri Surya Jaya, Grand Surya Gedangan, North </a:t>
            </a:r>
          </a:p>
          <a:p>
            <a:r>
              <a:t>Sidoarjo </a:t>
            </a:r>
          </a:p>
          <a:p>
            <a:r>
              <a:t>Established local </a:t>
            </a:r>
          </a:p>
          <a:p>
            <a:r>
              <a:t>housing market </a:t>
            </a:r>
          </a:p>
          <a:p>
            <a:r>
              <a:t>Intiland </a:t>
            </a:r>
          </a:p>
          <a:p>
            <a:r>
              <a:t>Graha Natura, Amesta Living </a:t>
            </a:r>
          </a:p>
          <a:p>
            <a:r>
              <a:t>West &amp; East </a:t>
            </a:r>
          </a:p>
          <a:p>
            <a:r>
              <a:t>Surabaya </a:t>
            </a:r>
          </a:p>
          <a:p>
            <a:r>
              <a:t>Nature-led and </a:t>
            </a:r>
          </a:p>
          <a:p>
            <a:r>
              <a:t>lifestyle-oriented living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Development model </a:t>
            </a:r>
          </a:p>
          <a:p>
            <a:r>
              <a:t>Strategic lesson </a:t>
            </a:r>
          </a:p>
          <a:p>
            <a:r>
              <a:t>Ciputra </a:t>
            </a:r>
          </a:p>
          <a:p>
            <a:r>
              <a:t>Long-term master planning with residential, </a:t>
            </a:r>
          </a:p>
          <a:p>
            <a:r>
              <a:t>education, and commercial components </a:t>
            </a:r>
          </a:p>
          <a:p>
            <a:r>
              <a:t>Integrated planning </a:t>
            </a:r>
          </a:p>
          <a:p>
            <a:r>
              <a:t>creates a recognizable </a:t>
            </a:r>
          </a:p>
          <a:p>
            <a:r>
              <a:t>township identity </a:t>
            </a:r>
          </a:p>
          <a:p>
            <a:r>
              <a:t>Pakuwon </a:t>
            </a:r>
          </a:p>
          <a:p>
            <a:r>
              <a:t>Residential development supported by substantial </a:t>
            </a:r>
          </a:p>
          <a:p>
            <a:r>
              <a:t>commercial destinations </a:t>
            </a:r>
          </a:p>
          <a:p>
            <a:r>
              <a:t>Attractions can strengthen </a:t>
            </a:r>
          </a:p>
          <a:p>
            <a:r>
              <a:t>repeat visitation and </a:t>
            </a:r>
          </a:p>
          <a:p>
            <a:r>
              <a:t>recurring income. </a:t>
            </a:r>
          </a:p>
          <a:p>
            <a:r>
              <a:t>Bakrieland </a:t>
            </a:r>
          </a:p>
          <a:p>
            <a:r>
              <a:t>Residential and mixed-use development within a </a:t>
            </a:r>
          </a:p>
          <a:p>
            <a:r>
              <a:t>local township </a:t>
            </a:r>
          </a:p>
          <a:p>
            <a:r>
              <a:t>Local market relevance </a:t>
            </a:r>
          </a:p>
          <a:p>
            <a:r>
              <a:t>and supporting </a:t>
            </a:r>
          </a:p>
          <a:p>
            <a:r>
              <a:t>infrastructure matter. </a:t>
            </a:r>
          </a:p>
          <a:p>
            <a:r>
              <a:t>Jaya Land </a:t>
            </a:r>
          </a:p>
          <a:p>
            <a:r>
              <a:t>Residential clusters positioned around established </a:t>
            </a:r>
          </a:p>
          <a:p>
            <a:r>
              <a:t>housing needs </a:t>
            </a:r>
          </a:p>
          <a:p>
            <a:r>
              <a:t>Product affordability and </a:t>
            </a:r>
          </a:p>
          <a:p>
            <a:r>
              <a:t>practical value remain </a:t>
            </a:r>
          </a:p>
          <a:p>
            <a:r>
              <a:t>fundamental. </a:t>
            </a:r>
          </a:p>
          <a:p/>
          <a:p>
            <a:r>
              <a:t>Intiland </a:t>
            </a:r>
          </a:p>
          <a:p>
            <a:r>
              <a:t>Landscape, architecture, nature, and </a:t>
            </a:r>
          </a:p>
          <a:p>
            <a:r>
              <a:t>lifestyle-oriented development </a:t>
            </a:r>
          </a:p>
          <a:p>
            <a:r>
              <a:t>Experience and </a:t>
            </a:r>
          </a:p>
          <a:p>
            <a:r>
              <a:t>environmental quality can </a:t>
            </a:r>
          </a:p>
          <a:p>
            <a:r>
              <a:t>differentiate homes </a:t>
            </a:r>
          </a:p>
          <a:p>
            <a:r>
              <a:t> </a:t>
            </a:r>
          </a:p>
          <a:p>
            <a:r>
              <a:t>Developer </a:t>
            </a:r>
          </a:p>
          <a:p>
            <a:r>
              <a:t>Revenue FY2025 </a:t>
            </a:r>
          </a:p>
          <a:p>
            <a:r>
              <a:t>YoY growth </a:t>
            </a:r>
          </a:p>
          <a:p>
            <a:r>
              <a:t>Ciputra (CTRA) </a:t>
            </a:r>
          </a:p>
          <a:p>
            <a:r>
              <a:t>Rp12.62T </a:t>
            </a:r>
          </a:p>
          <a:p>
            <a:r>
              <a:t>+12.8% </a:t>
            </a:r>
          </a:p>
          <a:p>
            <a:r>
              <a:t>Pakuwon (PWON) </a:t>
            </a:r>
          </a:p>
          <a:p>
            <a:r>
              <a:t>Rp7.11T </a:t>
            </a:r>
          </a:p>
          <a:p>
            <a:r>
              <a:t>+6.6% </a:t>
            </a:r>
          </a:p>
          <a:p>
            <a:r>
              <a:t>Intiland (DILD) </a:t>
            </a:r>
          </a:p>
          <a:p>
            <a:r>
              <a:t>Rp2.46T </a:t>
            </a:r>
          </a:p>
          <a:p>
            <a:r>
              <a:t>−3.6% </a:t>
            </a:r>
          </a:p>
          <a:p>
            <a:r>
              <a:t>Bakrieland (ELTY) </a:t>
            </a:r>
          </a:p>
          <a:p>
            <a:r>
              <a:t>Rp1.43T </a:t>
            </a:r>
          </a:p>
          <a:p>
            <a:r>
              <a:t>+16.2% </a:t>
            </a:r>
          </a:p>
          <a:p>
            <a:r>
              <a:t>Jaya Land </a:t>
            </a:r>
          </a:p>
          <a:p>
            <a:r>
              <a:t>Not disclosed </a:t>
            </a:r>
          </a:p>
          <a:p>
            <a:r>
              <a:t>— </a:t>
            </a:r>
          </a:p>
          <a:p>
            <a:r>
              <a:t>Tanrise (RISE) </a:t>
            </a:r>
          </a:p>
          <a:p>
            <a:r>
              <a:t>Rp410.7B </a:t>
            </a:r>
          </a:p>
          <a:p>
            <a:r>
              <a:t>+12.3%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20.</a:t>
            </a:r>
          </a:p>
          <a:p>
            <a:r>
              <a:t>Original source wording (for traceability):</a:t>
            </a:r>
          </a:p>
          <a:p>
            <a:r>
              <a:t>SLIDE 20 — CIPUTRA GROUP</a:t>
            </a:r>
          </a:p>
          <a:p>
            <a:r>
              <a:t>A Great Township Grows Beyond Its Homes. </a:t>
            </a:r>
          </a:p>
          <a:p>
            <a:r>
              <a:t>Key Developments </a:t>
            </a:r>
          </a:p>
          <a:p>
            <a:r>
              <a:t>CitraLand Surabaya, CitraHarmoni, CitraGarden Sidoarjo. </a:t>
            </a:r>
          </a:p>
          <a:p>
            <a:r>
              <a:t> </a:t>
            </a:r>
          </a:p>
          <a:p>
            <a:r>
              <a:t>Competitive Strength </a:t>
            </a:r>
          </a:p>
          <a:p>
            <a:r>
              <a:t>Ciputra builds long-term township value by integrating residential communities with commercial </a:t>
            </a:r>
          </a:p>
          <a:p>
            <a:r>
              <a:t>destinations, educational facilities, and supporting infrastructure. </a:t>
            </a:r>
          </a:p>
          <a:p>
            <a:r>
              <a:t> </a:t>
            </a:r>
          </a:p>
          <a:p>
            <a:r>
              <a:t>Rp12.62T</a:t>
            </a:r>
          </a:p>
          <a:p/>
          <a:p/>
          <a:p>
            <a:r>
              <a:t>Rp9.46T </a:t>
            </a:r>
          </a:p>
          <a:p/>
          <a:p/>
          <a:p>
            <a:r>
              <a:t> </a:t>
            </a:r>
          </a:p>
          <a:p>
            <a:r>
              <a:t>FY2025 revenue</a:t>
            </a:r>
          </a:p>
          <a:p/>
          <a:p/>
          <a:p/>
          <a:p>
            <a:r>
              <a:t>FY2025 marketing sales, −14% YoY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21.</a:t>
            </a:r>
          </a:p>
          <a:p>
            <a:r>
              <a:t>Original source wording (for traceability):</a:t>
            </a:r>
          </a:p>
          <a:p>
            <a:r>
              <a:t>SLIDE 21 — PAKUWON GROUP</a:t>
            </a:r>
          </a:p>
          <a:p>
            <a:r>
              <a:t>Creating Destinations That Give People Reasons to Return. </a:t>
            </a:r>
          </a:p>
          <a:p>
            <a:r>
              <a:t>Key Developments </a:t>
            </a:r>
          </a:p>
          <a:p>
            <a:r>
              <a:t>Pakuwon City, Grand Pakuwon, Pakuwon City Mall. </a:t>
            </a:r>
          </a:p>
          <a:p>
            <a:r>
              <a:t> </a:t>
            </a:r>
          </a:p>
          <a:p/>
          <a:p>
            <a:r>
              <a:t>Competitive Strength </a:t>
            </a:r>
          </a:p>
          <a:p>
            <a:r>
              <a:t>Pakuwon integrates residential communities with established retail, dining, entertainment, and </a:t>
            </a:r>
          </a:p>
          <a:p>
            <a:r>
              <a:t>hospitality destinations, supported by a substantial recurring-income portfolio. </a:t>
            </a:r>
          </a:p>
          <a:p>
            <a:r>
              <a:t> </a:t>
            </a:r>
          </a:p>
          <a:p>
            <a:r>
              <a:t>Rp7.11T </a:t>
            </a:r>
          </a:p>
          <a:p/>
          <a:p/>
          <a:p/>
          <a:p>
            <a:r>
              <a:t>79% </a:t>
            </a:r>
          </a:p>
          <a:p>
            <a:r>
              <a:t>FY2025 revenue</a:t>
            </a:r>
          </a:p>
          <a:p/>
          <a:p/>
          <a:p/>
          <a:p/>
          <a:p>
            <a:r>
              <a:t>FY2025 recurring-revenue contribution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22.</a:t>
            </a:r>
          </a:p>
          <a:p>
            <a:r>
              <a:t>Original source wording (for traceability):</a:t>
            </a:r>
          </a:p>
          <a:p>
            <a:r>
              <a:t>SLIDE 22 — BAKRIELAND DEVELOPMENT</a:t>
            </a:r>
          </a:p>
          <a:p>
            <a:r>
              <a:t>Building a Community Requires More Than Residential Scale. </a:t>
            </a:r>
          </a:p>
          <a:p>
            <a:r>
              <a:t>Key Development </a:t>
            </a:r>
          </a:p>
          <a:p>
            <a:r>
              <a:t>Kahuripan Nirwana, Sidoarjo. </a:t>
            </a:r>
          </a:p>
          <a:p>
            <a:r>
              <a:t> </a:t>
            </a:r>
          </a:p>
          <a:p>
            <a:r>
              <a:t>Competitive Strength </a:t>
            </a:r>
          </a:p>
          <a:p>
            <a:r>
              <a:t>An established Sidoarjo township combining landed housing, apartments, shophouses, food </a:t>
            </a:r>
          </a:p>
          <a:p>
            <a:r>
              <a:t>courts, and supporting facilities. </a:t>
            </a:r>
          </a:p>
          <a:p>
            <a:r>
              <a:t> </a:t>
            </a:r>
          </a:p>
          <a:p>
            <a:r>
              <a:t>2,000 ha </a:t>
            </a:r>
          </a:p>
          <a:p>
            <a:r>
              <a:t>Stated long-term development potential of Kahuripan Nirwana, not completed development area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23.</a:t>
            </a:r>
          </a:p>
          <a:p>
            <a:r>
              <a:t>Original source wording (for traceability):</a:t>
            </a:r>
          </a:p>
          <a:p>
            <a:r>
              <a:t>SLIDE 23 — JAYA LAND</a:t>
            </a:r>
          </a:p>
          <a:p>
            <a:r>
              <a:t>Understanding the Everyday Value of a Home </a:t>
            </a:r>
          </a:p>
          <a:p>
            <a:r>
              <a:t>Key Developments </a:t>
            </a:r>
          </a:p>
          <a:p>
            <a:r>
              <a:t>Puri Surya Jaya, Grand Surya, and other Sidoarjo residential products. </a:t>
            </a:r>
          </a:p>
          <a:p>
            <a:r>
              <a:t> </a:t>
            </a:r>
          </a:p>
          <a:p>
            <a:r>
              <a:t>Competitive Strength </a:t>
            </a:r>
          </a:p>
          <a:p>
            <a:r>
              <a:t>Local residential offerings that demonstrate the importance of practical layouts, location, </a:t>
            </a:r>
          </a:p>
          <a:p>
            <a:r>
              <a:t>household budgets, and attainable ownership. </a:t>
            </a:r>
          </a:p>
          <a:p>
            <a:r>
              <a:t> </a:t>
            </a:r>
          </a:p>
          <a:p>
            <a:r>
              <a:t>Rp465M </a:t>
            </a:r>
          </a:p>
          <a:p>
            <a:r>
              <a:t>Registered Grand Surya Jupiter house price: 36 m² building / 73 m² land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24.</a:t>
            </a:r>
          </a:p>
          <a:p>
            <a:r>
              <a:t>Original source wording (for traceability):</a:t>
            </a:r>
          </a:p>
          <a:p>
            <a:r>
              <a:t>SLIDE 24 — INTILAND DEVELOPMENT</a:t>
            </a:r>
          </a:p>
          <a:p>
            <a:r>
              <a:t>When Nature and Lifestyle Become Part of Everyday Living. </a:t>
            </a:r>
          </a:p>
          <a:p/>
          <a:p>
            <a:r>
              <a:t>Key Developments </a:t>
            </a:r>
          </a:p>
          <a:p>
            <a:r>
              <a:t>Graha Natura, Amesta Living, Graha Famili. </a:t>
            </a:r>
          </a:p>
          <a:p>
            <a:r>
              <a:t> </a:t>
            </a:r>
          </a:p>
          <a:p>
            <a:r>
              <a:t>Competitive Strength </a:t>
            </a:r>
          </a:p>
          <a:p>
            <a:r>
              <a:t>Differentiated residential environments integrating landscape, green open space, recreation, </a:t>
            </a:r>
          </a:p>
          <a:p>
            <a:r>
              <a:t>and lifestyle facilities into the living experience. </a:t>
            </a:r>
          </a:p>
          <a:p>
            <a:r>
              <a:t> </a:t>
            </a:r>
          </a:p>
          <a:p>
            <a:r>
              <a:t>86 ha </a:t>
            </a:r>
          </a:p>
          <a:p/>
          <a:p/>
          <a:p/>
          <a:p/>
          <a:p/>
          <a:p>
            <a:r>
              <a:t>Rp1.61T </a:t>
            </a:r>
          </a:p>
          <a:p>
            <a:r>
              <a:t>Graha Natura development area</a:t>
            </a:r>
          </a:p>
          <a:p/>
          <a:p/>
          <a:p/>
          <a:p>
            <a:r>
              <a:t>FY2025 group marketing sales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25.</a:t>
            </a:r>
          </a:p>
          <a:p>
            <a:r>
              <a:t>Original source wording (for traceability):</a:t>
            </a:r>
          </a:p>
          <a:p>
            <a:r>
              <a:t>SLIDE 25 —</a:t>
            </a:r>
          </a:p>
          <a:p>
            <a:r>
              <a:t>The ambition goes beyond building a township. It is about creating a </a:t>
            </a:r>
          </a:p>
          <a:p>
            <a:r>
              <a:t>destination that becomes part of how people live, explore, and connect.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26.</a:t>
            </a:r>
          </a:p>
          <a:p>
            <a:r>
              <a:t>Original source wording (for traceability):</a:t>
            </a:r>
          </a:p>
          <a:p>
            <a:r>
              <a:t>SLIDE 26 — BSD CITY</a:t>
            </a:r>
          </a:p>
          <a:p>
            <a:r>
              <a:t>Building an identity around an ecosystem. </a:t>
            </a:r>
          </a:p>
          <a:p>
            <a:r>
              <a:t>BSD City connects residential development with education facilities and the Digital Hub </a:t>
            </a:r>
          </a:p>
          <a:p>
            <a:r>
              <a:t>platform. </a:t>
            </a:r>
          </a:p>
          <a:p>
            <a:r>
              <a:t>Strategic lesson </a:t>
            </a:r>
          </a:p>
          <a:p>
            <a:r>
              <a:t>Specialized positioning requires institutions, infrastructure, partners, and sustained activity. </a:t>
            </a:r>
          </a:p>
          <a:p>
            <a:r>
              <a:t>Application for Tanrise </a:t>
            </a:r>
          </a:p>
          <a:p>
            <a:r>
              <a:t>A technology, education, or enterprise direction should be supported by: </a:t>
            </a:r>
          </a:p>
          <a:p>
            <a:r>
              <a:t>● Proven demand. </a:t>
            </a:r>
          </a:p>
          <a:p>
            <a:r>
              <a:t>● Relevant anchor partners. </a:t>
            </a:r>
          </a:p>
          <a:p>
            <a:r>
              <a:t>● Appropriate infrastructure. </a:t>
            </a:r>
          </a:p>
          <a:p>
            <a:r>
              <a:t>● A viable operating model. </a:t>
            </a:r>
          </a:p>
          <a:p>
            <a:r>
              <a:t>The identity must be supported by what the development can deliver.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27.</a:t>
            </a:r>
          </a:p>
          <a:p>
            <a:r>
              <a:t>Original source wording (for traceability):</a:t>
            </a:r>
          </a:p>
          <a:p>
            <a:r>
              <a:t>SLIDE 27 — PIK</a:t>
            </a:r>
          </a:p>
          <a:p>
            <a:r>
              <a:t>Creating a recognizable reason to visit. </a:t>
            </a:r>
          </a:p>
          <a:p>
            <a:r>
              <a:t>PIK’s published lifestyle offering includes themed culinary and leisure destinations, supported by </a:t>
            </a:r>
          </a:p>
          <a:p>
            <a:r>
              <a:t>coordinated visitor programming. </a:t>
            </a:r>
          </a:p>
          <a:p>
            <a:r>
              <a:t>Strategic lesson </a:t>
            </a:r>
          </a:p>
          <a:p>
            <a:r>
              <a:t>Distinctive experiences can introduce people to a place before they consider living there. </a:t>
            </a:r>
          </a:p>
          <a:p>
            <a:r>
              <a:t>Application for Tanrise </a:t>
            </a:r>
          </a:p>
          <a:p>
            <a:r>
              <a:t>Explore a signature destination that: </a:t>
            </a:r>
          </a:p>
          <a:p>
            <a:r>
              <a:t>● Serves residents. </a:t>
            </a:r>
          </a:p>
          <a:p>
            <a:r>
              <a:t>● Welcomes surrounding communities. </a:t>
            </a:r>
          </a:p>
          <a:p>
            <a:r>
              <a:t>● Encourages repeat visits. </a:t>
            </a:r>
          </a:p>
          <a:p>
            <a:r>
              <a:t>● Has sustainable commercial demand. </a:t>
            </a:r>
          </a:p>
          <a:p>
            <a:r>
              <a:t>A destination should contribute to the neighborhood throughout the week.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28.</a:t>
            </a:r>
          </a:p>
          <a:p>
            <a:r>
              <a:t>Original source wording (for traceability):</a:t>
            </a:r>
          </a:p>
          <a:p>
            <a:r>
              <a:t>SLIDE 28 — BENCHMARK SYNTHESIS</a:t>
            </a:r>
          </a:p>
          <a:p>
            <a:r>
              <a:t>Integration establishes relevance. A clear role creates distinction. </a:t>
            </a:r>
          </a:p>
          <a:p>
            <a:r>
              <a:t>Reference </a:t>
            </a:r>
          </a:p>
          <a:p>
            <a:r>
              <a:t>Lesson for Tanrise </a:t>
            </a:r>
          </a:p>
          <a:p>
            <a:r>
              <a:t>Agung Sedayu Group </a:t>
            </a:r>
          </a:p>
          <a:p>
            <a:r>
              <a:t>Coordinate homes, services, and destinations. </a:t>
            </a:r>
          </a:p>
          <a:p>
            <a:r>
              <a:t>Agung Podomoro Land Make the lifestyle promise visible. </a:t>
            </a:r>
          </a:p>
          <a:p>
            <a:r>
              <a:t>Summarecon </a:t>
            </a:r>
          </a:p>
          <a:p>
            <a:r>
              <a:t>Support residential life with daily facilities. </a:t>
            </a:r>
          </a:p>
          <a:p>
            <a:r>
              <a:t>Sentul City </a:t>
            </a:r>
          </a:p>
          <a:p>
            <a:r>
              <a:t>Express environmental identity through usable </a:t>
            </a:r>
          </a:p>
          <a:p>
            <a:r>
              <a:t>spaces. </a:t>
            </a:r>
          </a:p>
          <a:p>
            <a:r>
              <a:t>Pakuwon </a:t>
            </a:r>
          </a:p>
          <a:p>
            <a:r>
              <a:t>Understand regional expectations of convenience. </a:t>
            </a:r>
          </a:p>
          <a:p>
            <a:r>
              <a:t>BSD City </a:t>
            </a:r>
          </a:p>
          <a:p>
            <a:r>
              <a:t>Build specialized identity through an ecosystem. </a:t>
            </a:r>
          </a:p>
          <a:p>
            <a:r>
              <a:t>PIK </a:t>
            </a:r>
          </a:p>
          <a:p>
            <a:r>
              <a:t>Give the place a recognizable experience.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29.</a:t>
            </a:r>
          </a:p>
          <a:p>
            <a:r>
              <a:t>Original source wording (for traceability):</a:t>
            </a:r>
          </a:p>
          <a:p>
            <a:r>
              <a:t>SLIDE 29 — COMPARABLE CORRIDOR STUDIES</a:t>
            </a:r>
          </a:p>
          <a:p>
            <a:r>
              <a:t>Understand the mechanism behind the growth. </a:t>
            </a:r>
          </a:p>
          <a:p>
            <a:r>
              <a:t>Jakarta–Tangerang / BSD–Serpong</a:t>
            </a:r>
          </a:p>
          <a:p>
            <a:r>
              <a:t>A reference for investigating the relationship between employment, education, services, and </a:t>
            </a:r>
          </a:p>
          <a:p>
            <a:r>
              <a:t>residential development. </a:t>
            </a:r>
          </a:p>
          <a:p>
            <a:r>
              <a:t>Greater Jakarta–Sentul</a:t>
            </a:r>
          </a:p>
          <a:p>
            <a:r>
              <a:t>A reference for investigating how landscape and recreation contribute to residential and </a:t>
            </a:r>
          </a:p>
          <a:p>
            <a:r>
              <a:t>destination identity. </a:t>
            </a:r>
          </a:p>
          <a:p>
            <a:r>
              <a:t>Surabaya–Sidoarjo</a:t>
            </a:r>
          </a:p>
          <a:p>
            <a:r>
              <a:t>The application context for testing combinations of employment access, housing, services, and </a:t>
            </a:r>
          </a:p>
          <a:p>
            <a:r>
              <a:t>leisure.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30.</a:t>
            </a:r>
          </a:p>
          <a:p>
            <a:r>
              <a:t>Original source wording (for traceability):</a:t>
            </a:r>
          </a:p>
          <a:p>
            <a:r>
              <a:t>SLIDE 30 —</a:t>
            </a:r>
          </a:p>
          <a:p>
            <a:r>
              <a:t>04 — MARKET GAPS &amp; OPPORTUNITIES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31.</a:t>
            </a:r>
          </a:p>
          <a:p>
            <a:r>
              <a:t>Original source wording (for traceability):</a:t>
            </a:r>
          </a:p>
          <a:p>
            <a:r>
              <a:t>SLIDE 31 — OPPORTUNITY FRAMEWORK</a:t>
            </a:r>
          </a:p>
          <a:p>
            <a:r>
              <a:t>Industry 4.0: As Industries Evolve, So Should the Way People Live. </a:t>
            </a:r>
          </a:p>
          <a:p>
            <a:r>
              <a:t>Everyday Convenience</a:t>
            </a:r>
          </a:p>
          <a:p>
            <a:r>
              <a:t>Can the development make essential services easier to access? </a:t>
            </a:r>
          </a:p>
          <a:p>
            <a:r>
              <a:t>Active Community Life</a:t>
            </a:r>
          </a:p>
          <a:p>
            <a:r>
              <a:t>Can shared spaces and regular activities support meaningful connections? </a:t>
            </a:r>
          </a:p>
          <a:p>
            <a:r>
              <a:t>Comfortable Outdoor Living</a:t>
            </a:r>
          </a:p>
          <a:p>
            <a:r>
              <a:t>Can landscape and public space improve the everyday residential experience?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32.</a:t>
            </a:r>
          </a:p>
          <a:p>
            <a:r>
              <a:t>Original source wording (for traceability):</a:t>
            </a:r>
          </a:p>
          <a:p>
            <a:r>
              <a:t>SLIDE 32 — OPPORTUNITY 01: EVERYDAY CONVENIENCE</a:t>
            </a:r>
          </a:p>
          <a:p>
            <a:r>
              <a:t>Make daily life easier to organize. </a:t>
            </a:r>
          </a:p>
          <a:p>
            <a:r>
              <a:t>Explore demand for: </a:t>
            </a:r>
          </a:p>
          <a:p>
            <a:r>
              <a:t>● Homes connected to useful daily services. </a:t>
            </a:r>
          </a:p>
          <a:p/>
          <a:p>
            <a:r>
              <a:t>● Practical access to education and healthcare. </a:t>
            </a:r>
          </a:p>
          <a:p>
            <a:r>
              <a:t>● Clear and safe internal movement. </a:t>
            </a:r>
          </a:p>
          <a:p>
            <a:r>
              <a:t>● Convenient dining and household retail.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33.</a:t>
            </a:r>
          </a:p>
          <a:p>
            <a:r>
              <a:t>Original source wording (for traceability):</a:t>
            </a:r>
          </a:p>
          <a:p>
            <a:r>
              <a:t>SLIDE 33 — OPPORTUNITY 02: ACTIVE COMMUNITY LIFE</a:t>
            </a:r>
          </a:p>
          <a:p>
            <a:r>
              <a:t>Create shared spaces with a purpose. </a:t>
            </a:r>
          </a:p>
          <a:p>
            <a:r>
              <a:t>Explore demand for: </a:t>
            </a:r>
          </a:p>
          <a:p>
            <a:r>
              <a:t>● Flexible gathering spaces. </a:t>
            </a:r>
          </a:p>
          <a:p>
            <a:r>
              <a:t>● Family recreation. </a:t>
            </a:r>
          </a:p>
          <a:p>
            <a:r>
              <a:t>● Sports and wellbeing activities. </a:t>
            </a:r>
          </a:p>
          <a:p>
            <a:r>
              <a:t>● Local markets and neighborhood events.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34.</a:t>
            </a:r>
          </a:p>
          <a:p>
            <a:r>
              <a:t>Original source wording (for traceability):</a:t>
            </a:r>
          </a:p>
          <a:p>
            <a:r>
              <a:t>SLIDE 34 — OPPORTUNITY 03: COMFORTABLE OUTDOOR LIVING</a:t>
            </a:r>
          </a:p>
          <a:p>
            <a:r>
              <a:t>Make outdoor space useful every day. </a:t>
            </a:r>
          </a:p>
          <a:p>
            <a:r>
              <a:t>Explore opportunities for: </a:t>
            </a:r>
          </a:p>
          <a:p>
            <a:r>
              <a:t>● Shaded walking routes. </a:t>
            </a:r>
          </a:p>
          <a:p>
            <a:r>
              <a:t>● Accessible play and recreation areas. </a:t>
            </a:r>
          </a:p>
          <a:p>
            <a:r>
              <a:t>● Comfortable seating and resting points. </a:t>
            </a:r>
          </a:p>
          <a:p>
            <a:r>
              <a:t>● Landscape integrated with drainage and maintenance.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35.</a:t>
            </a:r>
          </a:p>
          <a:p>
            <a:r>
              <a:t>Original source wording (for traceability):</a:t>
            </a:r>
          </a:p>
          <a:p>
            <a:r>
              <a:t>SLIDE 35 — THE STRATEGIC OPPORTUNITY</a:t>
            </a:r>
          </a:p>
          <a:p>
            <a:r>
              <a:t>Bring the essentials of a better day together. </a:t>
            </a:r>
          </a:p>
          <a:p>
            <a:r>
              <a:t>A potential role for Tanrise City Sidoarjo is to connect homes, services, recreation, and </a:t>
            </a:r>
          </a:p>
          <a:p>
            <a:r>
              <a:t>community within a coordinated environment. </a:t>
            </a:r>
          </a:p>
          <a:p>
            <a:r>
              <a:t>Sunrise Residence Sidoarjo can express this direction through the residential experience—from </a:t>
            </a:r>
          </a:p>
          <a:p>
            <a:r>
              <a:t>the home itself to the spaces and services around it. </a:t>
            </a:r>
          </a:p>
          <a:p>
            <a:r>
              <a:t>Working opportunity </a:t>
            </a:r>
          </a:p>
          <a:p>
            <a:r>
              <a:t>A connected place to live, grow, and belong.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36.</a:t>
            </a:r>
          </a:p>
          <a:p>
            <a:r>
              <a:t>Original source wording (for traceability):</a:t>
            </a:r>
          </a:p>
          <a:p>
            <a:r>
              <a:t>SLIDE 36 —</a:t>
            </a:r>
          </a:p>
          <a:p>
            <a:r>
              <a:t>05 — CITY POSITIONING &amp; STRATEGIC DIRECTION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37.</a:t>
            </a:r>
          </a:p>
          <a:p>
            <a:r>
              <a:t>Original source wording (for traceability):</a:t>
            </a:r>
          </a:p>
          <a:p>
            <a:r>
              <a:t>SLIDE 37 — POSITIONING ALTERNATIVES</a:t>
            </a:r>
          </a:p>
          <a:p>
            <a:r>
              <a:t>The City of Better Living </a:t>
            </a:r>
          </a:p>
          <a:p>
            <a:r>
              <a:t>A Better Life in Motion. </a:t>
            </a:r>
          </a:p>
          <a:p>
            <a:r>
              <a:t>A family township built around active living, recreation, education, and connected daily services.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38.</a:t>
            </a:r>
          </a:p>
          <a:p>
            <a:r>
              <a:t>Original source wording (for traceability):</a:t>
            </a:r>
          </a:p>
          <a:p>
            <a:r>
              <a:t>SLIDE 38 — RECOMMENDED POSITIONING</a:t>
            </a:r>
          </a:p>
          <a:p>
            <a:r>
              <a:t>TANRISE CITY SIDOARJO </a:t>
            </a:r>
          </a:p>
          <a:p>
            <a:r>
              <a:t>A City That Moves Life Forward </a:t>
            </a:r>
          </a:p>
          <a:p>
            <a:r>
              <a:t>Through Sunrise Residence Sidoarjo, this proposition becomes a residential experience </a:t>
            </a:r>
          </a:p>
          <a:p>
            <a:r>
              <a:t>shaped around practical needs and a welcoming community environment. </a:t>
            </a:r>
          </a:p>
          <a:p>
            <a:r>
              <a:t>The promise </a:t>
            </a:r>
          </a:p>
          <a:p>
            <a:r>
              <a:t>A City That Moves Life Forward </a:t>
            </a:r>
          </a:p>
          <a:p>
            <a:r>
              <a:t>Economic foundation: Sidoarjo’s manufacturing, logistics, commerce, and professional </a:t>
            </a:r>
          </a:p>
          <a:p>
            <a:r>
              <a:t>economy. </a:t>
            </a:r>
          </a:p>
          <a:p>
            <a:r>
              <a:t>Experiential identity: Active living, green public space, family recreation, and community activity. </a:t>
            </a:r>
          </a:p>
          <a:p>
            <a:r>
              <a:t>Long-term anchors: Education, enterprise, and a thriving neighborhood town centre.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39.</a:t>
            </a:r>
          </a:p>
          <a:p>
            <a:r>
              <a:t>Original source wording (for traceability):</a:t>
            </a:r>
          </a:p>
          <a:p>
            <a:r>
              <a:t>SLIDE 39 — THREE DEVELOPMENT PILLARS</a:t>
            </a:r>
          </a:p>
          <a:p>
            <a:r>
              <a:t>Everyday Ease</a:t>
            </a:r>
          </a:p>
          <a:p>
            <a:r>
              <a:t>Connect homes with the services and routes people use most. </a:t>
            </a:r>
          </a:p>
          <a:p/>
          <a:p>
            <a:r>
              <a:t>Shared Vitality</a:t>
            </a:r>
          </a:p>
          <a:p>
            <a:r>
              <a:t>Create welcoming places for recreation, gathering, and local activity. </a:t>
            </a:r>
          </a:p>
          <a:p>
            <a:r>
              <a:t>Lasting Care</a:t>
            </a:r>
          </a:p>
          <a:p>
            <a:r>
              <a:t>Maintain the quality of the environment through dependable infrastructure and estate </a:t>
            </a:r>
          </a:p>
          <a:p>
            <a:r>
              <a:t>management. </a:t>
            </a:r>
          </a:p>
          <a:p>
            <a:r>
              <a:t>Together, these pillars guide how the development is planned, experienced, and </a:t>
            </a:r>
          </a:p>
          <a:p>
            <a:r>
              <a:t>sustained.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40.</a:t>
            </a:r>
          </a:p>
          <a:p>
            <a:r>
              <a:t>Original source wording (for traceability):</a:t>
            </a:r>
          </a:p>
          <a:p>
            <a:r>
              <a:t>SLIDE 40 — TRANSLATING THE PILLARS INTO PLACE</a:t>
            </a:r>
          </a:p>
          <a:p>
            <a:r>
              <a:t>Every promise needs a physical response. </a:t>
            </a:r>
          </a:p>
          <a:p>
            <a:r>
              <a:t>Pillar </a:t>
            </a:r>
          </a:p>
          <a:p>
            <a:r>
              <a:t>Potential Development Response </a:t>
            </a:r>
          </a:p>
          <a:p>
            <a:r>
              <a:t>Everyday </a:t>
            </a:r>
          </a:p>
          <a:p>
            <a:r>
              <a:t>Ease </a:t>
            </a:r>
          </a:p>
          <a:p>
            <a:r>
              <a:t>Convenient daily retail, legible access, and routes connecting homes with </a:t>
            </a:r>
          </a:p>
          <a:p>
            <a:r>
              <a:t>shared facilities. </a:t>
            </a:r>
          </a:p>
          <a:p>
            <a:r>
              <a:t>Shared </a:t>
            </a:r>
          </a:p>
          <a:p>
            <a:r>
              <a:t>Vitality </a:t>
            </a:r>
          </a:p>
          <a:p>
            <a:r>
              <a:t>Recreation areas, flexible gathering spaces, and a recognizable community </a:t>
            </a:r>
          </a:p>
          <a:p>
            <a:r>
              <a:t>destination. </a:t>
            </a:r>
          </a:p>
          <a:p>
            <a:r>
              <a:t>Lasting Care </a:t>
            </a:r>
          </a:p>
          <a:p>
            <a:r>
              <a:t>Maintainable landscapes, drainage infrastructure, service access, and a clear </a:t>
            </a:r>
          </a:p>
          <a:p>
            <a:r>
              <a:t>management framework. </a:t>
            </a:r>
          </a:p>
          <a:p>
            <a:r>
              <a:t>Facility sizes, land-use proportions, and locations should follow demand analysis and </a:t>
            </a:r>
          </a:p>
          <a:p>
            <a:r>
              <a:t>technical assessment.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41.</a:t>
            </a:r>
          </a:p>
          <a:p>
            <a:r>
              <a:t>Original source wording (for traceability):</a:t>
            </a:r>
          </a:p>
          <a:p>
            <a:r>
              <a:t>SLIDE 41 — A SIGNATURE COMMUNITY DESTINATION</a:t>
            </a:r>
          </a:p>
          <a:p>
            <a:r>
              <a:t>Give the development a place to come together. </a:t>
            </a:r>
          </a:p>
          <a:p>
            <a:r>
              <a:t>Explore a community destination combining selected elements such as: </a:t>
            </a:r>
          </a:p>
          <a:p>
            <a:r>
              <a:t>● Everyday dining and local retail. </a:t>
            </a:r>
          </a:p>
          <a:p>
            <a:r>
              <a:t>● Flexible gathering and event space. </a:t>
            </a:r>
          </a:p>
          <a:p>
            <a:r>
              <a:t>● Family recreation. </a:t>
            </a:r>
          </a:p>
          <a:p>
            <a:r>
              <a:t>● Landscaped outdoor areas. </a:t>
            </a:r>
          </a:p>
          <a:p>
            <a:r>
              <a:t>Its role is to serve residents and offer surrounding communities a relevant reason to visit. </a:t>
            </a:r>
          </a:p>
          <a:p>
            <a:r>
              <a:t>Begin with uses that can sustain regular demand. Expand as the community grows.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42.</a:t>
            </a:r>
          </a:p>
          <a:p>
            <a:r>
              <a:t>Original source wording (for traceability):</a:t>
            </a:r>
          </a:p>
          <a:p>
            <a:r>
              <a:t>SLIDE 42 — DEVELOPMENT SEQUENCE</a:t>
            </a:r>
          </a:p>
          <a:p>
            <a:r>
              <a:t>Build confidence through the first residential experience. </a:t>
            </a:r>
          </a:p>
          <a:p>
            <a:r>
              <a:t>Establish the Foundation</a:t>
            </a:r>
          </a:p>
          <a:p>
            <a:r>
              <a:t>Deliver access, utilities, drainage, homes, and essential services. </a:t>
            </a:r>
          </a:p>
          <a:p>
            <a:r>
              <a:t>Activate the Community</a:t>
            </a:r>
          </a:p>
          <a:p>
            <a:r>
              <a:t>Introduce shared spaces, recreation, and appropriate activities as occupancy grows. </a:t>
            </a:r>
          </a:p>
          <a:p>
            <a:r>
              <a:t>Expand the Offering</a:t>
            </a:r>
          </a:p>
          <a:p>
            <a:r>
              <a:t>Add larger commercial or institutional components when demand and partnerships justify them.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43.</a:t>
            </a:r>
          </a:p>
          <a:p>
            <a:r>
              <a:t>Original source wording (for traceability):</a:t>
            </a:r>
          </a:p>
          <a:p>
            <a:r>
              <a:t>SLIDE 43 — PROPOSED VISION &amp; MISSION</a:t>
            </a:r>
          </a:p>
          <a:p>
            <a:r>
              <a:t>Vision </a:t>
            </a:r>
          </a:p>
          <a:p>
            <a:r>
              <a:t>To become a connected community in Sidoarjo where people can build a better everyday life. </a:t>
            </a:r>
          </a:p>
          <a:p>
            <a:r>
              <a:t>Mission </a:t>
            </a:r>
          </a:p>
          <a:p>
            <a:r>
              <a:t>● Develop homes and shared environments around practical household needs. </a:t>
            </a:r>
          </a:p>
          <a:p>
            <a:r>
              <a:t>● Connect residential life with relevant services, recreation, and local activity. </a:t>
            </a:r>
          </a:p>
          <a:p>
            <a:r>
              <a:t>● Sustain the quality of the place through responsible planning and dependable </a:t>
            </a:r>
          </a:p>
          <a:p>
            <a:r>
              <a:t>management. </a:t>
            </a:r>
          </a:p>
          <a:p>
            <a:r>
              <a:t>Sunrise Residence Sidoarjo brings this ambition into the everyday experience of its </a:t>
            </a:r>
          </a:p>
          <a:p>
            <a:r>
              <a:t>residents.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44.</a:t>
            </a:r>
          </a:p>
          <a:p>
            <a:r>
              <a:t>Original source wording (for traceability):</a:t>
            </a:r>
          </a:p>
          <a:p>
            <a:r>
              <a:t>SLIDE 44 — VALIDATION &amp; ALIGNMENT</a:t>
            </a:r>
          </a:p>
          <a:p>
            <a:r>
              <a:t>Establish the evidence behind the direction. </a:t>
            </a:r>
          </a:p>
          <a:p>
            <a:r>
              <a:t>Site &amp; Planning</a:t>
            </a:r>
          </a:p>
          <a:p>
            <a:r>
              <a:t>Confirm boundaries, access, permitted uses, constraints, and masterplan status. </a:t>
            </a:r>
          </a:p>
          <a:p>
            <a:r>
              <a:t>Market &amp; Customers</a:t>
            </a:r>
          </a:p>
          <a:p>
            <a:r>
              <a:t>Establish catchment demographics, affordability, buyer motivations, and competing supply. </a:t>
            </a:r>
          </a:p>
          <a:p/>
          <a:p>
            <a:r>
              <a:t>Commercial &amp; Delivery</a:t>
            </a:r>
          </a:p>
          <a:p>
            <a:r>
              <a:t>Test product economics, partnerships, operating requirements, and phasing. </a:t>
            </a:r>
          </a:p>
          <a:p>
            <a:r>
              <a:t>Management Alignment</a:t>
            </a:r>
          </a:p>
          <a:p>
            <a:r>
              <a:t>Agree on priority audiences, development ambition, positioning, and approval criteria.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Tanrise City Sidoarjo.pdf — planned slide 45.</a:t>
            </a:r>
          </a:p>
          <a:p>
            <a:r>
              <a:t>Original source wording (for traceability):</a:t>
            </a:r>
          </a:p>
          <a:p>
            <a:r>
              <a:t>SLIDE 45 — CLOSING</a:t>
            </a:r>
          </a:p>
          <a:p>
            <a:r>
              <a:t>TANRISE CITY SIDOARJO </a:t>
            </a:r>
          </a:p>
          <a:p>
            <a:r>
              <a:t>A Better-Connected Everyday Life </a:t>
            </a:r>
          </a:p>
          <a:p>
            <a:r>
              <a:t>Through Sunrise Residence Sidoarjo, the opportunity is to connect well-considered homes with </a:t>
            </a:r>
          </a:p>
          <a:p>
            <a:r>
              <a:t>relevant services, shared activity, and dependable care. </a:t>
            </a:r>
          </a:p>
          <a:p>
            <a:r>
              <a:t>A place to live. A community to grow with.</a:t>
            </a:r>
          </a:p>
          <a:p/>
          <a:p>
            <a:r>
              <a:t>Design: white #FFFFFF; widescreen 16:9; ochre #BB8A27; geometric sans heading substitute Open Sans; serif body substitute Liberation Serif. No wording from the visual reference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01 — COVER</a:t>
            </a:r>
          </a:p>
        </p:txBody>
      </p:sp>
      <p:pic>
        <p:nvPicPr>
          <p:cNvPr id="6" name="Picture 5" descr="source_p6_im0.png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9009598" y="1382573"/>
            <a:ext cx="4485132" cy="59746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48" y="1744675"/>
            <a:ext cx="6984102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24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TANRISE CITY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324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SIDOARJO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988" y="3489350"/>
            <a:ext cx="6363293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340" b="0" i="1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Creating a City for Active Living, Discovery, and Connection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3988" y="5349240"/>
            <a:ext cx="6001154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13988" y="5612587"/>
            <a:ext cx="6208091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Market Understanding, Competitive Landscape &amp; Strategic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988" y="6814108"/>
            <a:ext cx="6363293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Market Understanding &amp; Strategic Positioning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02 — THE BELIEF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289" y="2468880"/>
            <a:ext cx="11484967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1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The true value of a city lies beyond its physical development, in its ability to enrich everyday life, inspire discovery, and foster meaningful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03 — THE STRATEGIC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 meaningful destination begins where place, people, and experiences come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70332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90083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4707331"/>
            <a:ext cx="3904199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character, potential, and opportunities of Sidoarjo to create a destination with a distinct sense of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3100" y="370332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63100" y="390083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3100" y="4707331"/>
            <a:ext cx="3904199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lifestyles, aspirations, and everyday moments that bring people together and give a place meaning.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63947" y="370332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763947" y="390083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947" y="4707331"/>
            <a:ext cx="3904199" cy="2221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Places to explore, activities to enjoy, and shared experiences that make every visit meaningful.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04 — THE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From market understanding to a clear development direction.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48" y="2756916"/>
            <a:ext cx="12571383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34682" y="2946197"/>
            <a:ext cx="600115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01 — Market &amp; Regional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6240" y="2946197"/>
            <a:ext cx="610462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Understand the economic setting and potential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48" y="3645712"/>
            <a:ext cx="12571383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34682" y="3834994"/>
            <a:ext cx="600115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02 — Site &amp; Surrounding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6240" y="3834994"/>
            <a:ext cx="610462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Identify the location’s opportunities and constraints.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2948" y="4534510"/>
            <a:ext cx="12571383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34682" y="4723790"/>
            <a:ext cx="600115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03 — Competitor &amp; Corridor Benchmarking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6240" y="4723790"/>
            <a:ext cx="610462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Examine how other developments establish relevance.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48" y="5423306"/>
            <a:ext cx="12571383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34682" y="5612587"/>
            <a:ext cx="600115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04 — Market Gaps &amp; Opportunities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6240" y="5612587"/>
            <a:ext cx="610462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Identify needs and opportunities to validate.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48" y="6312103"/>
            <a:ext cx="12571383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34682" y="6501384"/>
            <a:ext cx="6001154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05 — City Positioning &amp; Strategic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6240" y="6501384"/>
            <a:ext cx="610462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Translate the findings into a clear proposition.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48" y="1645920"/>
            <a:ext cx="4138727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90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988" y="4139489"/>
            <a:ext cx="12312713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13988" y="4608576"/>
            <a:ext cx="12312713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MARKET &amp; REGIONAL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06 — THE ECONOMIC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An Industrial Economy. A City of Growing Possibilities.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54" y="2551176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Sidoarjo's economic strength is built around a substantial industrial and manufacturing base, creating an important foundation for employment, entrepreneurship, and regional economic activity.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2254" y="3826764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2254" y="4114800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5.63%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54" y="4995367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Economic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254" y="5678424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 · Sidoarjo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7550" y="3826764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197550" y="4114800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49.45%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7550" y="4995367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Manufacturing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7550" y="5678424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Share of 2025 regional GDP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32848" y="3826764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32848" y="4114800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Rp319.25T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848" y="4995367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Regional Economy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2848" y="5678424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 GDP, current prices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48" y="6501384"/>
            <a:ext cx="1241618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Source: BPS Kabupaten Sidoarjo, Economic Growth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48" y="6929323"/>
            <a:ext cx="12519649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An economy driven by industry creates an opportunity to serve the lives built around it. Sidoarjo's economy provides the foundation. The opportunity lies in creating a city that enriches the lives of the people behind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07 — THE REGIONAL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Connected to a Greater Economy. Positioned for a More Complete Way of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54" y="2485339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Sidoarjo is part of the Greater Surabaya metropolitan ecosystem, connecting industrial activity, employment, commerce, and regional mobility.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2254" y="3703320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65722" y="3818534"/>
            <a:ext cx="4623403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Strategic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6061" y="3818534"/>
            <a:ext cx="7668616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Opportunity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4213555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65722" y="4345229"/>
            <a:ext cx="4592362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01 — Metropolitan 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61" y="4345229"/>
            <a:ext cx="7637575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Access to Surabaya's employment, business, and commercial ecosystem.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254" y="520933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65722" y="5341010"/>
            <a:ext cx="4592362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02 — Industrial &amp; Economic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6061" y="5341010"/>
            <a:ext cx="7637575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An established industrial base supporting professionals, entrepreneurs, and households.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2254" y="620511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065722" y="6336792"/>
            <a:ext cx="4592362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03 — Regional Accessibility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6061" y="6336792"/>
            <a:ext cx="7637575" cy="8147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Connections to transport infrastructure, services, and lifestyle destinations.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254" y="720090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08 — CONNECTED TO THE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An Established Aviation Gateway Strengthens Sidoarjo's Potential as a Place to Live, Work, and Connect.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950208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4238243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13.5M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5118811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Annual Passengers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54" y="5801868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97550" y="3950208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197550" y="4238243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92K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7550" y="5118811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Aircraft Movements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7550" y="5801868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32848" y="3950208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9432848" y="4238243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2848" y="5118811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Air 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848" y="5801868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32 domestic, 11 international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09 — UNDERSTANDING THE 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Beyond Population. Understanding the Lives Behind the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54" y="2485339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Sidoarjo's substantial population and employment-driven economy provide a potential market for different household needs, from first-time homeowners to established families seeking a more complete lifestyle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2254" y="3867912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62254" y="4155948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2.04M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254" y="5036515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Residents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254" y="5719572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 registration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7550" y="3867912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197550" y="4155948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~68%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7550" y="5036515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Working-age population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7550" y="5719572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Ages 15–59, Dec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32848" y="3867912"/>
            <a:ext cx="3842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32848" y="4155948"/>
            <a:ext cx="387315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49.45%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848" y="5036515"/>
            <a:ext cx="3821423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Manufacturing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2848" y="5719572"/>
            <a:ext cx="382142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2025 regional GDP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09 — UNDERSTANDING THE PEOPLE ·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Four Potential Audience Segments: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2921508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119018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01 — Family &amp; Living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3925519"/>
            <a:ext cx="6104621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Homes and environments that support different generations and stages of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3522" y="2921508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563522" y="3119018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02 — Work &amp;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3522" y="3925519"/>
            <a:ext cx="6104621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Convenience and connectivity that complement professional and business routines.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254" y="4978908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2254" y="5176418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03 — Lifestyle &amp;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254" y="5982919"/>
            <a:ext cx="6104621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More choices for recreation, dining, exploration, and everyday enjoyment.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3522" y="4978908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563522" y="5176418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04 — Connection &amp; Belonging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522" y="5982919"/>
            <a:ext cx="6104621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Shared spaces and experiences that encourage meaningful social interaction.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10 — THE EXISTING TOWNSHIP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61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 Growing Residential Market. An Opportunity to Redefine Everyday Living.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2798064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65722" y="2913278"/>
            <a:ext cx="2065661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Market 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8320" y="2913278"/>
            <a:ext cx="46481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Existing 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417" y="2913278"/>
            <a:ext cx="53712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Opportunity for Tanrise City Sidoarjo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330829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65722" y="3439972"/>
            <a:ext cx="2034621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Housing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8320" y="3439972"/>
            <a:ext cx="4617119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Established cluster-based residential developments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417" y="3439972"/>
            <a:ext cx="5340220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More diverse residential choices across household life stages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2254" y="411150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65722" y="4243181"/>
            <a:ext cx="2034621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Lifestyle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8320" y="4243181"/>
            <a:ext cx="4617119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Amenities concentrated in existing townships and commercial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417" y="4243181"/>
            <a:ext cx="5340220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connected collection of lifestyle and leisure destinations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254" y="491471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5722" y="5046390"/>
            <a:ext cx="2034621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8320" y="5046390"/>
            <a:ext cx="4617119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Residential neighborhoods with private shared facilities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417" y="5046390"/>
            <a:ext cx="5340220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Inclusive gathering spaces and recurring community activities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2254" y="571792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65722" y="5849600"/>
            <a:ext cx="2034621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Green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8320" y="5849600"/>
            <a:ext cx="4617119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Greenery is already a common township proposition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417" y="5849600"/>
            <a:ext cx="5340220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Make connected landscapes and active outdoor experiences central to daily life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254" y="652113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1065722" y="6652808"/>
            <a:ext cx="2034621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8320" y="6652808"/>
            <a:ext cx="4617119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Retail and food-and-beverage activity distributed across urban corridors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417" y="6652808"/>
            <a:ext cx="5340220" cy="6221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complementary commercial ecosystem designed around everyday use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254" y="732434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10 — THE EXISTING TOWNSHIP LANDSCAPE · CONTINUED</a:t>
            </a:r>
          </a:p>
        </p:txBody>
      </p:sp>
      <p:pic>
        <p:nvPicPr>
          <p:cNvPr id="6" name="Picture 5" descr="source_p5_i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2" y="1596542"/>
            <a:ext cx="9710928" cy="58149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11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289" y="2468880"/>
            <a:ext cx="11484967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1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Different lives. Different aspirations. One shared desire for a place where life has more to offer.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12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48" y="1645920"/>
            <a:ext cx="4138727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90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988" y="4139489"/>
            <a:ext cx="12312713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13988" y="4608576"/>
            <a:ext cx="12312713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SITE &amp; SURROUNDING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13 — SITE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34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TANRISE CITY SIDOARJO  |  SUNRISE RESIDENCE</a:t>
            </a:r>
          </a:p>
        </p:txBody>
      </p:sp>
      <p:pic>
        <p:nvPicPr>
          <p:cNvPr id="7" name="Picture 6" descr="source_p6_i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132" y="2345436"/>
            <a:ext cx="7591806" cy="50612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14 —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54" y="1580083"/>
            <a:ext cx="12519649" cy="1193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Sunrise Residence Sidoarjo occupies a strategic planning position within an established working urban environment, where industrial facilities, existing neighborhoods, and undeveloped land coexist.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003804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65722" y="3119018"/>
            <a:ext cx="1452608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5266" y="3119018"/>
            <a:ext cx="5238445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Existing surroundings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0649" y="3119018"/>
            <a:ext cx="5394028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Planning implication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351403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065722" y="3645712"/>
            <a:ext cx="142156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West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5266" y="3645712"/>
            <a:ext cx="5207405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Jalan Lingkar Timur and established neighborhood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0649" y="3645712"/>
            <a:ext cx="536298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Main road frontage and potential access visibility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2254" y="443575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65722" y="4567428"/>
            <a:ext cx="142156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West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5266" y="4567428"/>
            <a:ext cx="5207405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Industrial buildings and warehousing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0649" y="4567428"/>
            <a:ext cx="536298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Need to consider noise, servicing, and land-use buffers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254" y="535747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5722" y="5489143"/>
            <a:ext cx="142156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5266" y="5489143"/>
            <a:ext cx="5207405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Agricultural land and open areas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0649" y="5489143"/>
            <a:ext cx="536298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Opportunity for open landscape views, subject to future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2254" y="627918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65722" y="6410858"/>
            <a:ext cx="142156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South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5266" y="6410858"/>
            <a:ext cx="5207405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Mixed vacant land, buildings, and vegetation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0649" y="6410858"/>
            <a:ext cx="5362987" cy="740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Boundary treatment and future adjacent development need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2254" y="720090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15 — THE SURROUNDING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254" y="1522476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industrial ecosystem is one of the clearest verified characteristics of this location. Three relevant developments along the Lingkar Timur corridor are:</a:t>
            </a:r>
          </a:p>
        </p:txBody>
      </p:sp>
      <p:pic>
        <p:nvPicPr>
          <p:cNvPr id="7" name="Picture 6" descr="source_p7_i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631" y="2468880"/>
            <a:ext cx="9587484" cy="54305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16 — SITE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254" y="1769364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65722" y="1884578"/>
            <a:ext cx="223052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3179" y="1884578"/>
            <a:ext cx="4460534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0649" y="1884578"/>
            <a:ext cx="5394028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Implication for Tanrise 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254" y="2279599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65722" y="2411273"/>
            <a:ext cx="2199479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Industrial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3179" y="2411273"/>
            <a:ext cx="4429494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Strong existing industrial and logistics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0649" y="2411273"/>
            <a:ext cx="5362987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Potential employment-linked market, but greater attention to residential comfort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254" y="328031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65722" y="3411992"/>
            <a:ext cx="2199479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Existing Housing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3179" y="3411992"/>
            <a:ext cx="4429494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Established neighborhoods west of the road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0649" y="3411992"/>
            <a:ext cx="5362987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Opportunity to complement the existing residential environment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254" y="428103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65722" y="4412711"/>
            <a:ext cx="2199479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Land Character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3179" y="4412711"/>
            <a:ext cx="4429494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Open agricultural parcels remain near the 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0649" y="4412711"/>
            <a:ext cx="5362987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Opportunity for landscape-led planning; surrounding land-use changes remain uncertain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254" y="528175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5722" y="5413431"/>
            <a:ext cx="2199479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Daily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3179" y="5413431"/>
            <a:ext cx="4429494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Schools and basic retail exist along the corridor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0649" y="5413431"/>
            <a:ext cx="5362987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Integrated daily conveniences could support residents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254" y="628247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65722" y="6414150"/>
            <a:ext cx="2199479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Lifestyle Destinations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3179" y="6414150"/>
            <a:ext cx="4429494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Major shopping and recreation destinations exist across Sidoarjo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0649" y="6414150"/>
            <a:ext cx="5362987" cy="8196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Potential to differentiate through more distinctive and accessible activities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254" y="728319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17 — DESIGN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Comfort, practicality, and a welcoming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54" y="2510028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supplied architecture and clubhouse materials provide useful reference principles: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48" y="3374135"/>
            <a:ext cx="12623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86416" y="3555186"/>
            <a:ext cx="12312713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Contemporary forms with clear, simple detailing.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2948" y="4073651"/>
            <a:ext cx="12623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86416" y="4254702"/>
            <a:ext cx="12312713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Natural lighting and ventilation.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48" y="4773168"/>
            <a:ext cx="12623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86416" y="4954219"/>
            <a:ext cx="12312713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Practical layouts that balance comfort and privacy.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48" y="5472683"/>
            <a:ext cx="12623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86416" y="5653734"/>
            <a:ext cx="12312713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Warm tropical materials and architectural accents.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48" y="6172200"/>
            <a:ext cx="1262311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86416" y="6353251"/>
            <a:ext cx="12312713" cy="5349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Shared spaces with an approachable, hospitality-inspired atmosphere.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18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48" y="1645920"/>
            <a:ext cx="4138727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90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988" y="4139489"/>
            <a:ext cx="12312713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13988" y="4608576"/>
            <a:ext cx="12312713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COMPETITOR &amp; CORRIDOR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BENCHMARKING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19 — BENCHMARKING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61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Five Developers. Five Different Approaches to Township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254" y="2493569"/>
            <a:ext cx="1251964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Greater Surabaya's property market is shaped by established developers competing through master-planned communities, residential accessibility, commercial destinations, and lifestyle integration.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2254" y="3579875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65722" y="3695090"/>
            <a:ext cx="1859062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1721" y="3695090"/>
            <a:ext cx="3821761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Flagship developments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0418" y="3695090"/>
            <a:ext cx="2788762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Primary corridors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6115" y="3695090"/>
            <a:ext cx="3408561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Core strength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254" y="4090111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65722" y="4221785"/>
            <a:ext cx="18280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Ciputra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1721" y="4221785"/>
            <a:ext cx="3790720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CitraLand Surabaya, CitraHarmoni, CitraGarden Sidoarjo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0418" y="4221785"/>
            <a:ext cx="27577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West Surabaya, Taman, Buduran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6115" y="4221785"/>
            <a:ext cx="33775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Integrated townships and master planning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254" y="475341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65722" y="4885090"/>
            <a:ext cx="18280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Pakuwon 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1721" y="4885090"/>
            <a:ext cx="3790720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Pakuwon City, Grand Pakuwon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0418" y="4885090"/>
            <a:ext cx="27577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East &amp; West Surabaya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6115" y="4885090"/>
            <a:ext cx="33775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Commercial anchors and destination development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2254" y="5416722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65722" y="5548396"/>
            <a:ext cx="18280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Bakrieland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1721" y="5548396"/>
            <a:ext cx="3790720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Kahuripan Nirwana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0418" y="5548396"/>
            <a:ext cx="27577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Central Sidoarjo, Buduran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56115" y="5548396"/>
            <a:ext cx="33775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Sidoarjo township 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254" y="608002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65722" y="6211702"/>
            <a:ext cx="18280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Jaya Land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1721" y="6211702"/>
            <a:ext cx="3790720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Puri Surya Jaya, Grand Surya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0418" y="6211702"/>
            <a:ext cx="27577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Gedangan, North Sidoarjo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6115" y="6211702"/>
            <a:ext cx="33775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Established local housing market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254" y="674333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1065722" y="6875007"/>
            <a:ext cx="18280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Intiland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31721" y="6875007"/>
            <a:ext cx="3790720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Graha Natura, Amesta Living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0418" y="6875007"/>
            <a:ext cx="27577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West &amp; East Surabaya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56115" y="6875007"/>
            <a:ext cx="3377521" cy="4822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Nature-led and lifestyle-oriented living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2254" y="740664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19 — BENCHMARKING FRAMEWORK ·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254" y="1810512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65722" y="1925726"/>
            <a:ext cx="1859062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1721" y="1925726"/>
            <a:ext cx="53712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Development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9917" y="1925726"/>
            <a:ext cx="48547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Strategic lesson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254" y="232074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65722" y="2452421"/>
            <a:ext cx="1828021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Ciputra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1721" y="2452421"/>
            <a:ext cx="5340220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Long-term master planning with residential, education, and commercial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9917" y="2452421"/>
            <a:ext cx="4823719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Integrated planning creates a recognizable township identity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254" y="3313237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65722" y="3444910"/>
            <a:ext cx="1828021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Pakuwon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1721" y="3444910"/>
            <a:ext cx="5340220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Residential development supported by substantial commercial destinations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9917" y="3444910"/>
            <a:ext cx="4823719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Attractions can strengthen repeat visitation and recurring income.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254" y="430572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65722" y="4437400"/>
            <a:ext cx="1828021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Bakrieland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1721" y="4437400"/>
            <a:ext cx="5340220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Residential and mixed-use development within a local township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917" y="4437400"/>
            <a:ext cx="4823719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Local market relevance and supporting infrastructure matter.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254" y="529821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5722" y="5429890"/>
            <a:ext cx="1828021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Jaya 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1721" y="5429890"/>
            <a:ext cx="5340220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Residential clusters positioned around established housing needs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9917" y="5429890"/>
            <a:ext cx="4823719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Product affordability and practical value remain fundamental.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254" y="629070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65722" y="6422379"/>
            <a:ext cx="1828021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Intiland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1721" y="6422379"/>
            <a:ext cx="5340220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Landscape, architecture, nature, and lifestyle-oriented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9917" y="6422379"/>
            <a:ext cx="4823719" cy="8114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Experience and environmental quality can differentiate homes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254" y="728319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19 — BENCHMARKING FRAMEWORK ·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254" y="1933956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65722" y="2049170"/>
            <a:ext cx="4958059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0718" y="2049170"/>
            <a:ext cx="42349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Revenue FY2025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2616" y="2049170"/>
            <a:ext cx="2892061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YoY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254" y="2444191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65722" y="2575865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Ciputra (CTRA)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0718" y="2575865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Rp12.62T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2616" y="2575865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+12.8%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254" y="322326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065722" y="3354934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Pakuwon (PWON)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0718" y="3354934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Rp7.11T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72616" y="3354934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+6.6%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2254" y="4002329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65722" y="4134002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Intiland (DILD)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0718" y="4134002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Rp2.46T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2616" y="4134002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−3.6%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254" y="478139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5722" y="4913071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Bakrieland (ELTY)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0718" y="4913071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Rp1.43T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2616" y="4913071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+16.2%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254" y="5560466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65722" y="5692140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Jaya 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0718" y="5692140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Not disclosed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72616" y="5692140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2254" y="6339535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1065722" y="6471209"/>
            <a:ext cx="4927019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Tanrise (RISE)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0718" y="6471209"/>
            <a:ext cx="4203920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Rp410.7B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2616" y="6471209"/>
            <a:ext cx="2861021" cy="598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+12.3%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2254" y="711860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20 — CIPUTRA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 Great Township Grows Beyond Its Homes.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33472"/>
            <a:ext cx="54838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Developments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48" y="3184855"/>
            <a:ext cx="4552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CitraLand Surabaya, CitraHarmoni, CitraGarden Sidoarjo.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091" y="2633472"/>
            <a:ext cx="693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Competitive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091" y="3184855"/>
            <a:ext cx="7035836" cy="1522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Ciputra builds long-term township value by integrating residential communities with commercial destinations, educational facilities, and supporting infrastructure.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2254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Rp12.62T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54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FY2025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254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199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199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Rp9.46T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FY2025 marketing sales, −14%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21 — PAKUWON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Creating Destinations That Give People Reasons to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33472"/>
            <a:ext cx="54838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Developments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48" y="3184855"/>
            <a:ext cx="4552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Pakuwon City, Grand Pakuwon, Pakuwon City Mall.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091" y="2633472"/>
            <a:ext cx="693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Competitive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091" y="3184855"/>
            <a:ext cx="7035836" cy="1522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Pakuwon integrates residential communities with established retail, dining, entertainment, and hospitality destinations, supported by a substantial recurring-income portfolio.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2254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Rp7.11T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54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FY2025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254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199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199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79%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FY2025 recurring-revenue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22 — BAKRIELAND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Building a Community Requires More Than Residential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33472"/>
            <a:ext cx="54838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48" y="3184855"/>
            <a:ext cx="4552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Kahuripan Nirwana, Sidoarjo.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091" y="2633472"/>
            <a:ext cx="693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Competitive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091" y="3184855"/>
            <a:ext cx="7035836" cy="1522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An established Sidoarjo township combining landed housing, apartments, shophouses, food courts, and supporting facilities.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5020056"/>
            <a:ext cx="1231271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2254" y="5308091"/>
            <a:ext cx="1234375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2,000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54" y="6188659"/>
            <a:ext cx="1229201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2254" y="6279185"/>
            <a:ext cx="12292019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Stated long-term development potential of Kahuripan Nirwana, not completed development area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23 — JAYA 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Understanding the Everyday Value of a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33472"/>
            <a:ext cx="54838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Developments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48" y="3184855"/>
            <a:ext cx="4552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Puri Surya Jaya, Grand Surya, and other Sidoarjo residential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091" y="2633472"/>
            <a:ext cx="693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Competitive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091" y="3184855"/>
            <a:ext cx="7035836" cy="1522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Local residential offerings that demonstrate the importance of practical layouts, location, household budgets, and attainable ownership.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5020056"/>
            <a:ext cx="1231271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2254" y="5308091"/>
            <a:ext cx="12343753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Rp465M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54" y="6188659"/>
            <a:ext cx="1229201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2254" y="6279185"/>
            <a:ext cx="12292019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Registered Grand Surya Jupiter house price: 36 m² building / 73 m² land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24 — INTILAND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0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When Nature and Lifestyle Become Part of Everyday Living.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33472"/>
            <a:ext cx="54838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Key Developments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48" y="3184855"/>
            <a:ext cx="4552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Graha Natura, Amesta Living, Graha Famili.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091" y="2633472"/>
            <a:ext cx="69323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Competitive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091" y="3184855"/>
            <a:ext cx="7035836" cy="15224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Differentiated residential environments integrating landscape, green open space, recreation, and lifestyle facilities into the living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254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2254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86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254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Graha Natura development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254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199" y="5020056"/>
            <a:ext cx="5959767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199" y="5308091"/>
            <a:ext cx="5990807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78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Rp1.61T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6188659"/>
            <a:ext cx="593907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FY2025 group marketing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6871716"/>
            <a:ext cx="5939072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0" i="0">
                <a:solidFill>
                  <a:srgbClr val="BB8A27"/>
                </a:solidFill>
                <a:latin typeface="Liberation Serif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25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289" y="2468880"/>
            <a:ext cx="11484967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1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The ambition goes beyond building a township. It is about creating a destination that becomes part of how people live, explore, and connect.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26 — BSD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Building an identity around an ecosystem.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74620"/>
            <a:ext cx="5328611" cy="1357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BSD City connects residential development with education facilities and the Digital Hub platform.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48" y="4238244"/>
            <a:ext cx="532861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82948" y="4468673"/>
            <a:ext cx="53286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Strategic lesson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48" y="5061204"/>
            <a:ext cx="5328611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Specialized positioning requires institutions, infrastructure, partners, and sustained activity.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772" y="2674620"/>
            <a:ext cx="62080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Application for Tanrise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772" y="3291840"/>
            <a:ext cx="6104622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technology, education, or enterprise direction should be supported by: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Proven demand.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Relevant anchor partners.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Appropriate infrastructure.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A viable operating model.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48" y="6954011"/>
            <a:ext cx="12416181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identity must be supported by what the development can deliver.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27 — PIK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Creating a recognizable reason to visit.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48" y="2674620"/>
            <a:ext cx="5328611" cy="13578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PIK’s published lifestyle offering includes themed culinary and leisure destinations, supported by coordinated visitor programming. </a:t>
            </a:r>
          </a:p>
        </p:txBody>
      </p:sp>
      <p:sp>
        <p:nvSpPr>
          <p:cNvPr id="8" name="Rectangle 7"/>
          <p:cNvSpPr/>
          <p:nvPr/>
        </p:nvSpPr>
        <p:spPr>
          <a:xfrm>
            <a:off x="982948" y="4238244"/>
            <a:ext cx="532861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82948" y="4468673"/>
            <a:ext cx="53286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Strategic lesson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48" y="5061204"/>
            <a:ext cx="5328611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Distinctive experiences can introduce people to a place before they consider living there.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772" y="2674620"/>
            <a:ext cx="620809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Application for Tanrise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772" y="3291840"/>
            <a:ext cx="6104622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Explore a signature destination that: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Serves residents.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Welcomes surrounding communities.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Encourages repeat visits.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Has sustainable commercial demand.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48" y="6954011"/>
            <a:ext cx="12416181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destination should contribute to the neighborhood throughout the week.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28 — BENCHMARK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Integration establishes relevance. A clear role creates distinction.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2798064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65722" y="2913278"/>
            <a:ext cx="4234960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7619" y="2913278"/>
            <a:ext cx="8057058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Lesson for Tanrise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254" y="330829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65722" y="3439972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Agung Sedayu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619" y="3439972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Coordinate homes, services, and destinations.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254" y="388202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65722" y="4013693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Agung Podomoro 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7619" y="4013693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Make the lifestyle promise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254" y="445574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65722" y="4587413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Summarecon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7619" y="4587413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Support residential life with daily facilities.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254" y="5029461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65722" y="5161135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Sentul 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7619" y="5161135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Express environmental identity through usable spaces.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254" y="5603181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65722" y="5734855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Pakuwon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7619" y="5734855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Understand regional expectations of convenience.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2254" y="6176902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065722" y="6308576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BSD 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7619" y="6308576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Build specialized identity through an ecosystem.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254" y="6750623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1065722" y="6882296"/>
            <a:ext cx="4203920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7619" y="6882296"/>
            <a:ext cx="8026018" cy="3926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Give the place a recognizable experience.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2254" y="7324344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29 — COMPARABLE CORRIDOR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Understand the mechanism behind the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332988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530498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Jakarta–Tangerang / BSD–Serpong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4336999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reference for investigating the relationship between employment, education, services, and residential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3100" y="3332988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63100" y="3530498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Greater Jakarta–Sentul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3100" y="4336999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reference for investigating how landscape and recreation contribute to residential and destination identity.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63947" y="3332988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763947" y="3530498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Surabaya–Sidoarjo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947" y="4336999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The application context for testing combinations of employment access, housing, services, and leisure.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30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48" y="1645920"/>
            <a:ext cx="4138727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90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988" y="4139489"/>
            <a:ext cx="12312713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13988" y="4608576"/>
            <a:ext cx="12312713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MARKET GAPS &amp; OPPORTUNITIES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31 — OPPORTUNITY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Industry 4.0: As Industries Evolve, So Should the Way People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49758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69509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Everyday Convenience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4501591"/>
            <a:ext cx="3904199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Can the development make essential services easier to access?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3100" y="349758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63100" y="369509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Active Community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3100" y="4501591"/>
            <a:ext cx="3904199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Can shared spaces and regular activities support meaningful connections?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63947" y="3497580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763947" y="3695090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Comfortable Outdoor Living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947" y="4501591"/>
            <a:ext cx="3904199" cy="2386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Can landscape and public space improve the everyday residential experience?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32 — OPPORTUNITY 01: EVERYDAY CONVENIENCE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Make daily life easier to organize.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921508"/>
            <a:ext cx="1231271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Explore demand for: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3988" y="3785616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38150" y="3966666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Homes connected to useful daily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988" y="4567428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38150" y="4748479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Practical access to education and healthcare.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988" y="5349240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38150" y="5530291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Clear and safe internal movement.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3988" y="6131051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8150" y="6312102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Convenient dining and household retail.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33 — OPPORTUNITY 02: ACTIVE COMMUNITY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Create shared spaces with a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921508"/>
            <a:ext cx="1231271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Explore demand for: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3988" y="3785616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38150" y="3966666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Flexible gathering spaces.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988" y="4567428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38150" y="4748479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Family recreation.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988" y="5349240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38150" y="5530291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Sports and wellbeing activities.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3988" y="6131051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8150" y="6312102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Local markets and neighborhood events.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34 — OPPORTUNITY 03: COMFORTABLE OUTDOOR LIVING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Make outdoor space useful every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921508"/>
            <a:ext cx="12312713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Explore opportunities for: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3988" y="3785616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38150" y="3966666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Shaded walking routes.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988" y="4567428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138150" y="4748479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Accessible play and recreation areas.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988" y="5349240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138150" y="5530291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Comfortable seating and resting points.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3988" y="6131051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138150" y="6312102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Landscape integrated with drainage and maintenance.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35 — THE STRATEGIC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Bring the essentials of a better day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798064"/>
            <a:ext cx="12105777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potential role for Tanrise City Sidoarjo is to connect homes, services, recreation, and community within a coordinated environment. Sunrise Residence Sidoarjo can express this direction through the residential experience—from the home itself to the spaces and services around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3988" y="5184648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13988" y="5472684"/>
            <a:ext cx="1241618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Working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988" y="6089904"/>
            <a:ext cx="1210577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connected place to live, grow, and belong.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36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48" y="1645920"/>
            <a:ext cx="4138727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90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3988" y="4139489"/>
            <a:ext cx="12312713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13988" y="4608576"/>
            <a:ext cx="12312713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CITY POSITIONING &amp;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3060" b="0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STRATEGIC DIRECTION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37 — POSITIONING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5086" y="2016252"/>
            <a:ext cx="12002308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33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The City of Better 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5086" y="3497580"/>
            <a:ext cx="1200230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06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Better Life in Motion.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45086" y="5102352"/>
            <a:ext cx="1179537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45086" y="5554980"/>
            <a:ext cx="11795372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25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family township built around active living, recreation, education, and connected daily services.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38 — RECOMMENDED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988" y="1563624"/>
            <a:ext cx="12416181" cy="370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260" b="1" i="0">
                <a:solidFill>
                  <a:srgbClr val="BB8A27"/>
                </a:solidFill>
                <a:latin typeface="Open Sans"/>
              </a:defRPr>
            </a:pPr>
            <a:r>
              <a:rPr spc="90">
                <a:solidFill/>
              </a:rPr>
              <a:t>TANRISE CITY SIDOARJO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098548"/>
            <a:ext cx="1251964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15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A City That Moves Life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988" y="3250692"/>
            <a:ext cx="12416181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Through Sunrise Residence Sidoarjo, this proposition becomes a residential experience shaped around practical needs and a welcoming community environment.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3988" y="4567428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013988" y="4814316"/>
            <a:ext cx="331098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1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The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988" y="5349240"/>
            <a:ext cx="3517918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43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 City That Moves Life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0345" y="4797857"/>
            <a:ext cx="8070518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1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Economic foundation: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0345" y="5143500"/>
            <a:ext cx="807051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Sidoarjo’s manufacturing, logistics, commerce, and professional economy.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0345" y="5670194"/>
            <a:ext cx="8070518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1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Experiential identity: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0345" y="6015838"/>
            <a:ext cx="807051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Active living, green public space, family recreation, and community activity.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0345" y="6542532"/>
            <a:ext cx="8070518" cy="288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17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Long-term anchors: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0345" y="6888175"/>
            <a:ext cx="8070518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62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Education, enterprise, and a thriving neighborhood town centre.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39 — THREE DEVELOPMENT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254" y="2633472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62254" y="2830982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Everyday 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254" y="3637483"/>
            <a:ext cx="3904199" cy="2551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Connect homes with the services and routes people use most.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3100" y="2633472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363100" y="2830982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Shared Vitality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3100" y="3637483"/>
            <a:ext cx="3904199" cy="2551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Create welcoming places for recreation, gathering, and local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63947" y="2633472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763947" y="2830982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Lasting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3947" y="3637483"/>
            <a:ext cx="3904199" cy="2551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Maintain the quality of the environment through dependable infrastructure and estate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988" y="6665976"/>
            <a:ext cx="1241618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Together, these pillars guide how the development is planned, experienced, and sustained.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40 — TRANSLATING THE PILLARS INTO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Every promise needs a physical response.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2880360"/>
            <a:ext cx="12705892" cy="6584"/>
          </a:xfrm>
          <a:prstGeom prst="rect">
            <a:avLst/>
          </a:prstGeom>
          <a:solidFill>
            <a:srgbClr val="BB8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65722" y="2995574"/>
            <a:ext cx="3098661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1320" y="2995574"/>
            <a:ext cx="9193357" cy="3950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Potential Development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254" y="3390595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65722" y="3522269"/>
            <a:ext cx="3067621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Everyday 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1320" y="3522269"/>
            <a:ext cx="9162316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Convenient daily retail, legible access, and routes connecting homes with shared facilities.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254" y="4400093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065722" y="4531766"/>
            <a:ext cx="3067621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Shared Vitality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1320" y="4531766"/>
            <a:ext cx="9162316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Recreation areas, flexible gathering spaces, and a recognizable community destination.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254" y="5409590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065722" y="5541264"/>
            <a:ext cx="3067621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98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Lasting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1320" y="5541264"/>
            <a:ext cx="9162316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Maintainable landscapes, drainage infrastructure, service access, and a clear management framework.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254" y="6419088"/>
            <a:ext cx="12705892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013988" y="6789420"/>
            <a:ext cx="12416181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Facility sizes, land-use proportions, and locations should follow demand analysis and technical assessment.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41 — A SIGNATURE COMMUNITY DESTINATION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Give the development a place to come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756916"/>
            <a:ext cx="1241618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Explore a community destination combining selected elements such 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9884" y="3802075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Everyday dining and local retail.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9884" y="4378147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Flexible gathering and event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9884" y="4954219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Family recreation.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9884" y="5530291"/>
            <a:ext cx="12105777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07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Landscaped outdoor areas.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3988" y="6336792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13988" y="6583680"/>
            <a:ext cx="12416181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Its role is to serve residents and offer surrounding communities a relevant reason to visit. Begin with uses that can sustain regular demand. Expand as the community grows.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42 — DEVELOPMENT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Build confidence through the first residential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3415284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612794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Establish 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4419295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Deliver access, utilities, drainage, homes, and essential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63100" y="3415284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363100" y="3612794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Activate the 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3100" y="4419295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Introduce shared spaces, recreation, and appropriate activities as occupancy grows.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63947" y="3415284"/>
            <a:ext cx="3904199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763947" y="3612794"/>
            <a:ext cx="390419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Expand the Offering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3947" y="4419295"/>
            <a:ext cx="3904199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Add larger commercial or institutional components when demand and partnerships justify them.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43 — PROPOSED VISION &amp;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988" y="1769364"/>
            <a:ext cx="310404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988" y="2468880"/>
            <a:ext cx="4863004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1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To become a connected community in Sidoarjo where people can build a better everyday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772" y="1769364"/>
            <a:ext cx="610462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440" b="1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772" y="2304288"/>
            <a:ext cx="6104622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</a:p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Develop homes and shared environments around practical household needs.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Connect residential life with relevant services, recreation, and local activity. 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189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● Sustain the quality of the place through responsible planning and dependable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988" y="6583680"/>
            <a:ext cx="1241618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13988" y="6830568"/>
            <a:ext cx="12416181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71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Sunrise Residence Sidoarjo brings this ambition into the everyday experience of its residents.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BB8A27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BB8A27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BB8A27"/>
                </a:solidFill>
                <a:latin typeface="Open Sans"/>
              </a:defRPr>
            </a:pPr>
            <a:r>
              <a:rPr>
                <a:solidFill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BB8A27"/>
                </a:solidFill>
                <a:latin typeface="Open Sans"/>
              </a:defRPr>
            </a:pPr>
            <a:r>
              <a:rPr spc="99">
                <a:solidFill/>
              </a:rPr>
              <a:t>SLIDE 44 — VALIDATION &amp;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214" y="1464869"/>
            <a:ext cx="12519649" cy="946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790" b="0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Establish the evidence behind the direction.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254" y="2880360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2254" y="3077870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Site &amp;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254" y="3884371"/>
            <a:ext cx="6104621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Confirm boundaries, access, permitted uses, constraints, and masterplan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3522" y="2880360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563522" y="3077870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Market &amp;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3522" y="3884371"/>
            <a:ext cx="6104621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Establish catchment demographics, affordability, buyer motivations, and competing supply.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254" y="5102352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2254" y="5299862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Commercial &amp;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254" y="6106363"/>
            <a:ext cx="6104621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Test product economics, partnerships, operating requirements, and phasing.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3522" y="5102352"/>
            <a:ext cx="6104621" cy="6584"/>
          </a:xfrm>
          <a:prstGeom prst="rect">
            <a:avLst/>
          </a:prstGeom>
          <a:solidFill>
            <a:srgbClr val="DDC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563522" y="5299862"/>
            <a:ext cx="610462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530" b="1" i="0">
                <a:solidFill>
                  <a:srgbClr val="BB8A27"/>
                </a:solidFill>
                <a:latin typeface="Open Sans"/>
              </a:defRPr>
            </a:pPr>
            <a:r>
              <a:rPr spc="32">
                <a:solidFill/>
              </a:rPr>
              <a:t>Management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3522" y="6106363"/>
            <a:ext cx="6104621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800" b="0" i="0">
                <a:solidFill>
                  <a:srgbClr val="BB8A27"/>
                </a:solidFill>
                <a:latin typeface="Liberation Serif"/>
              </a:defRPr>
            </a:pPr>
            <a:r>
              <a:rPr>
                <a:solidFill/>
              </a:rPr>
              <a:t>Agree on priority audiences, development ambition, positioning, and approval criteria.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035" y="263347"/>
            <a:ext cx="2741907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810" b="1" i="0">
                <a:solidFill>
                  <a:srgbClr val="182C31"/>
                </a:solidFill>
                <a:latin typeface="Open Sans"/>
              </a:defRPr>
            </a:pPr>
            <a:r>
              <a:rPr spc="72">
                <a:solidFill/>
              </a:rPr>
              <a:t>TANRISE CITY SIDOARJO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918" y="288036"/>
            <a:ext cx="8794795" cy="181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702" b="0" i="0">
                <a:solidFill>
                  <a:srgbClr val="182C31"/>
                </a:solidFill>
                <a:latin typeface="Open Sans"/>
              </a:defRPr>
            </a:pPr>
            <a:r>
              <a:rPr spc="63">
                <a:solidFill/>
              </a:rPr>
              <a:t>MARKET UNDERSTANDING &amp; STRATEGIC POSITIONING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0863" y="7793431"/>
            <a:ext cx="62080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6000"/>
              </a:lnSpc>
              <a:spcAft>
                <a:spcPts val="450"/>
              </a:spcAft>
              <a:defRPr sz="900" b="0" i="0">
                <a:solidFill>
                  <a:srgbClr val="182C31"/>
                </a:solidFill>
                <a:latin typeface="Open Sans"/>
              </a:defRPr>
            </a:pPr>
            <a:r>
              <a:rPr>
                <a:solidFill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58" y="822960"/>
            <a:ext cx="13036990" cy="3456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080" b="1" i="0">
                <a:solidFill>
                  <a:srgbClr val="182C31"/>
                </a:solidFill>
                <a:latin typeface="Open Sans"/>
              </a:defRPr>
            </a:pPr>
            <a:r>
              <a:rPr spc="99">
                <a:solidFill/>
              </a:rPr>
              <a:t>SLIDE 45 — 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9884" y="1670608"/>
            <a:ext cx="1231271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1350" b="1" i="0">
                <a:solidFill>
                  <a:srgbClr val="182C31"/>
                </a:solidFill>
                <a:latin typeface="Open Sans"/>
              </a:defRPr>
            </a:pPr>
            <a:r>
              <a:rPr spc="135">
                <a:solidFill/>
              </a:rPr>
              <a:t>TANRISE CITY SIDOARJO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9884" y="2551176"/>
            <a:ext cx="1231271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3510" b="0" i="0">
                <a:solidFill>
                  <a:srgbClr val="182C31"/>
                </a:solidFill>
                <a:latin typeface="Open Sans"/>
              </a:defRPr>
            </a:pPr>
            <a:r>
              <a:rPr spc="45">
                <a:solidFill/>
              </a:rPr>
              <a:t>A Better-Connected</a:t>
            </a:r>
          </a:p>
          <a:p>
            <a:pPr>
              <a:lnSpc>
                <a:spcPct val="116000"/>
              </a:lnSpc>
              <a:spcAft>
                <a:spcPts val="450"/>
              </a:spcAft>
              <a:defRPr sz="3510" b="0" i="0">
                <a:solidFill>
                  <a:srgbClr val="182C31"/>
                </a:solidFill>
                <a:latin typeface="Open Sans"/>
              </a:defRPr>
            </a:pPr>
            <a:r>
              <a:rPr spc="45">
                <a:solidFill/>
              </a:rPr>
              <a:t>Everyday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9884" y="4855464"/>
            <a:ext cx="11588436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160" b="0" i="0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Through Sunrise Residence Sidoarjo, the opportunity is to connect well-considered homes with relevant services, shared activity, and dependable care.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9884" y="6501384"/>
            <a:ext cx="12002308" cy="6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9884" y="6805879"/>
            <a:ext cx="1200230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450"/>
              </a:spcAft>
              <a:defRPr sz="2340" b="0" i="1">
                <a:solidFill>
                  <a:srgbClr val="182C31"/>
                </a:solidFill>
                <a:latin typeface="Liberation Serif"/>
              </a:defRPr>
            </a:pPr>
            <a:r>
              <a:rPr>
                <a:solidFill/>
              </a:rPr>
              <a:t>A place to live. A community to grow with.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erif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Tanrise City Sidoarjo — Market Understanding &amp; Strategic Positioning Proposal</dc:title>
  <dc:subject>Client concept approval presentation</dc:subject>
  <dc:creator>Tanrise City Sidoarjo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